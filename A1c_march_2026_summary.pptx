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2cb2c3dffb2ea47b1b0c550463fe9fe04954d814.png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4718da7d4e9feddabcab2a4558e7315d76cf1dc2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a6bfe0bbe04a0e45bc6fd8afef85753b88d7128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09cd638402cddccd89a1bf3331f34949c11823ab.png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400e513169a1dd04f5e7bb49f1cbdcdf181727ab.png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2fb3cacd2718c86f388698b10560bb580f806031.png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Relationship Id="rId2" Type="http://schemas.openxmlformats.org/officeDocument/2006/relationships/image" Target="../media/29438ca47627243a804179eb2d539a235cde6423.png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548640" y="320040"/>
            <a:ext cx="10972800" cy="219456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640080" y="2834640"/>
            <a:ext cx="1097280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March 2026 A1c Screening Data Analysis</a:t>
            </a: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22960" y="3566160"/>
            <a:ext cx="10241280" cy="10972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Aim: To identify demographic, clinical, and geographic disparities in HbA1c and diabetes burden among U.S. blood donors.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Hypothesis: HbA1c and diabetes burden vary across donor subgroups and counties, with higher levels concentrated in specific demographic and medical-risk groups and in geographic clusters.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Donor Characteristics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65760" y="621792"/>
            <a:ext cx="111556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5A5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Baseline descriptive profile of the March 2026 analytic donor cohort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365760" y="914400"/>
          <a:ext cx="7132320" cy="5029200"/>
        </p:xfrm>
        <a:graphic>
          <a:graphicData uri="http://schemas.openxmlformats.org/drawingml/2006/table">
            <a:tbl>
              <a:tblPr/>
              <a:tblGrid>
                <a:gridCol w="2293303"/>
                <a:gridCol w="1108135"/>
              </a:tblGrid>
              <a:tr h="312227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Characteristic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Summary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gender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193,635 (48%)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209,736 (52%)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race/ethnicity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Asian/other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26,249 (6.5%)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Black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15,410 (3.8%)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43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Hispanic Origin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20,507 (5.1%)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White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341,205 (85%)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age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54 (37, 66)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68297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age group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70,801 (18%)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134,752 (33%)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197,818 (49%)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6819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first-time donor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53,925 (14%)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335,374 (86%)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glycemic status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313,854 (78%)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56 (&lt;0.1%)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69,693 (17%)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19,768 (4.9%)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hemoglobin%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14.20 (13.30, 15.10)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SBP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128 (117, 139)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DBP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76 (69, 83)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BP range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108,668 (28%)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Elevated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65,881 (17%)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Stage 1 hypertension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107,931 (28%)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Stage 2 hypertension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106,819 (27%)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2286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Hypertensive crisis (symptoms unknown)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 (0%)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7726680" y="1005840"/>
            <a:ext cx="3931920" cy="5029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Analytic cohort: 403,371 unique donors.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Median age was 54 years; 48.0% were female and 0.0% were first-time donors.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Overall glycemic distribution was 77.8% normal, 17.3% prediabetes, and 4.9% diabetes.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This slide is descriptive, establishing the cohort context for subsequent subgroup and spatial comparisons rather than testing a specific between-group hypothesis.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Medical History Summary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365760" y="621792"/>
            <a:ext cx="1115568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5A5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Selected donor medical history variables carried forward for HbA1c comparisons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457200" y="914400"/>
          <a:ext cx="7040880" cy="5029200"/>
        </p:xfrm>
        <a:graphic>
          <a:graphicData uri="http://schemas.openxmlformats.org/drawingml/2006/table">
            <a:tbl>
              <a:tblPr/>
              <a:tblGrid>
                <a:gridCol w="1909177"/>
                <a:gridCol w="831265"/>
              </a:tblGrid>
              <a:tr h="312227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Characteristic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Summary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Medical History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endParaRPr cap="none" sz="800" i="0" b="1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cancer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33,093 (8.2%)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h/o hypertension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1,086 (0.3%)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heart/lung condition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24,924 (6.2%)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coagulopathy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1,577 (0.4%)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on teratogens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65 (&lt;0.1%)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on anticoagulants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 (&lt;0.1%)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on deferral medications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1,896 (0.5%)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8838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h/o splenectomy/thrombocytopenia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97 (&lt;0.1%)</a:t>
                      </a:r>
                    </a:p>
                  </a:txBody>
                  <a:tcPr anchor="ctr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7726680" y="1143000"/>
            <a:ext cx="3794760" cy="43891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These variables were combined later into a binary indicator of any medical history versus none.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That grouping was used to test whether HbA1c is systematically shifted upward among donors with a flagged medical history profile.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Separating this section onto its own slide preserves readability while retaining the same table content included in the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Donor Counts by Gender and Race/Ethnicity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726680" y="1097280"/>
            <a:ext cx="3840480" cy="44805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Race/ethnicity composition differed significantly across age-by-sex strata (Pearson chi-squared X^2 = 24,454, p &lt; 0.001).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Among men, the proportion of White donors increased from 67.7% in donors younger than 29 years to 92.1% in donors aged 55 years or older.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These denominator differences matter because apparent HbA1c disparities may partly reflect how heavily each demographic stratum is represented in the screened donor pool.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Glycemic Status by Age Group and Gender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726680" y="1051560"/>
            <a:ext cx="388620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Glycemic status differed significantly across age-by-sex strata (Pearson chi-squared X^2 = 45,552, p &lt; 0.001).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Diabetes prevalence increased from 0.5% in women younger than 29 years and 0.6% in men younger than 29 years to 4.8% and 10.7%, respectively, among donors aged 55 years or older.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Older men carried the highest burden of dysglycemia, with both prediabetes and diabetes proportions notably elevated relative to younger donor groups.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Exact Counts and Percentages for Glycemic Status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365760" y="914400"/>
          <a:ext cx="7498080" cy="4754880"/>
        </p:xfrm>
        <a:graphic>
          <a:graphicData uri="http://schemas.openxmlformats.org/drawingml/2006/table">
            <a:tbl>
              <a:tblPr/>
              <a:tblGrid>
                <a:gridCol w="777321"/>
                <a:gridCol w="574114"/>
                <a:gridCol w="961719"/>
                <a:gridCol w="859641"/>
                <a:gridCol w="853390"/>
                <a:gridCol w="605926"/>
              </a:tblGrid>
              <a:tr h="30030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age_group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gender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A1C_category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group count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total donors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percent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36,849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37,976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97%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37,976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941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37,976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2.5%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177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37,976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31,549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32,825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96.1%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32,825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1,085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32,825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3.3%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-29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186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32,825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56,846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62,985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90.3%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62,985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4,915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62,985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7.8%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1,213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62,985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1.9%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59,881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71,767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83.4%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71,767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9,394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71,767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13.1%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30-54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2,477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71,767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3.5%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66,202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92,674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71.4%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92,674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21,983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92,674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23.7%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F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4,481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92,674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4.8%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normal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62,527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105,144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59.5%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7149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hypoglycemia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105,144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5958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prediabetes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31,375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105,144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29.8%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0452"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55-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diabetes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11,234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105,144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38100" marR="38100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10.7%</a:t>
                      </a:r>
                    </a:p>
                  </a:txBody>
                  <a:tcPr anchor="t" marB="38100" marT="381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046720" y="1097280"/>
            <a:ext cx="3474720" cy="42976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highest combined prediabetes plus diabetes burden was observed in men aged 55 years or older: 40.5%.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For comparison, women younger than 29 years had a combined dysglycemia burden of only 2.9%.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table supports formal reporting by pairing the visual trends with exact subgroup counts and percentages.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HbA1c Distribution by Age Group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726680" y="1097280"/>
            <a:ext cx="3840480" cy="44805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HbA1c distributions differed significantly across age groups (Kruskal-Wallis chi-squared = 75,592, p &lt; 0.001).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Median HbA1c increased from 5.1% in donors younger than 29 years to 5.3% in donors aged 30-54 years and 5.5% in donors aged 55 years or older.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5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rightward shift of the full distribution suggests that the age effect is broad-based and not driven only by a small number of highly elevated observations.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HbA1c Distribution by Race/Ethnicity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726680" y="1051560"/>
            <a:ext cx="384048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HbA1c distributions differed significantly across race/ethnicity groups (Kruskal-Wallis chi-squared = 1,626.3, p &lt; 0.001).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Median HbA1c was highest among Black donors (5.5%), followed by Asian/other donors (5.4%), and lower in Hispanic Origin and White donors (both 5.3%).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These differences are modest in absolute magnitude but statistically robust because they reflect systematic distributional shifts across a large donor sample.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HbA1c Distribution by Any Medical History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0040" y="960120"/>
            <a:ext cx="7223760" cy="46634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726680" y="1097280"/>
            <a:ext cx="384048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Donors with any flagged medical history had significantly higher HbA1c values than those without (Wilcoxon rank-sum, p &lt; 0.001).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Median HbA1c was 5.5% among donors with any medical history versus 5.3% among donors without.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distribution is shifted to the right rather than differing only in the extreme upper tail, supporting a generalized association between medical-history burden and higher glycemic levels.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County-Level Hotspot Analysis of Diabetes Prevalence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420624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7818120" y="1051560"/>
            <a:ext cx="3703320" cy="45720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Among 1,593 counties with at least 20 donors, 223 met Gi* significance criteria for a hotspot or coldspot.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This included 139 hotspot counties and 84 coldspot counties; 41 hotspots and 3 coldspots met the 99% significance threshold.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Hotspot status reflects local spatial clustering rather than a county's raw percentage alone, which is why isolated high-value counties may not be classified as hotspots.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2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The interactive county map remains available separately in county_diabetes_hotspot_map_interactive.html.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365760" y="182880"/>
            <a:ext cx="113385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1F1F1F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Exported Files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731520" y="1280160"/>
            <a:ext cx="10515600" cy="23774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PowerPoint export: A1c_march_2026_summary.pptx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Report source: a1c_march2026/A1c_march_2026.Rmd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Interactive map companion: county_diabetes_hotspot_map_interactive.html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2F2A2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All plots used in the PowerPoint were also written to the ppt_assets folder for reuse in manuscripts or posters.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2026-04-09T09:09:12Z</dcterms:modified>
  <cp:category/>
</cp:coreProperties>
</file>