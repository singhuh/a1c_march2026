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1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hyperlink" Target="https://singhuh.github.io/a1c_march2026/A1c_march_2026" TargetMode="External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hyperlink" Target="https://singhuh.github.io/a1c_march2026/A1c_march_2026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C41877-9B2B-48C8-8DCD-55E6C644F17A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7566E0F-9DCF-4953-A47E-B29AAF812CE2}">
      <dgm:prSet/>
      <dgm:spPr/>
      <dgm:t>
        <a:bodyPr/>
        <a:lstStyle/>
        <a:p>
          <a:r>
            <a:rPr lang="en-US">
              <a:latin typeface="Adobe Garamond Pro" panose="02020502060506020403" pitchFamily="18" charset="0"/>
            </a:rPr>
            <a:t>Aim</a:t>
          </a:r>
        </a:p>
      </dgm:t>
    </dgm:pt>
    <dgm:pt modelId="{0883BED1-38EC-4339-B0A3-5D51036BCDDD}" type="parTrans" cxnId="{F346AA40-E05F-408B-981D-285375911A33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BDD7F12B-7011-4FDD-B0A6-8FD3F68B6C9B}" type="sibTrans" cxnId="{F346AA40-E05F-408B-981D-285375911A33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84C28D34-BA36-4377-B18F-5079D3D6C024}">
      <dgm:prSet/>
      <dgm:spPr/>
      <dgm:t>
        <a:bodyPr/>
        <a:lstStyle/>
        <a:p>
          <a:r>
            <a:rPr lang="en-US" dirty="0">
              <a:latin typeface="Adobe Garamond Pro" panose="02020502060506020403" pitchFamily="18" charset="0"/>
            </a:rPr>
            <a:t>To identify demographic, clinical, and geographic disparities in HbA1c and diabetes burden among U.S. blood donors.</a:t>
          </a:r>
        </a:p>
      </dgm:t>
    </dgm:pt>
    <dgm:pt modelId="{6AA454CE-3B77-46AA-B3A9-5AF70B498328}" type="parTrans" cxnId="{7DCF71FF-8379-46C2-89C7-E0D198700679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473F8A60-758B-450C-BB9F-989E2D728FF5}" type="sibTrans" cxnId="{7DCF71FF-8379-46C2-89C7-E0D198700679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97240C26-E907-4E1E-A39E-0BDA87CD6D0F}">
      <dgm:prSet/>
      <dgm:spPr/>
      <dgm:t>
        <a:bodyPr/>
        <a:lstStyle/>
        <a:p>
          <a:r>
            <a:rPr lang="en-US">
              <a:latin typeface="Adobe Garamond Pro" panose="02020502060506020403" pitchFamily="18" charset="0"/>
            </a:rPr>
            <a:t>Hypothesis</a:t>
          </a:r>
        </a:p>
      </dgm:t>
    </dgm:pt>
    <dgm:pt modelId="{0843F226-878A-43C1-8111-6E077C975690}" type="parTrans" cxnId="{25F61630-6FD9-4EB6-92E6-52DDFF231432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34992E48-138A-42A9-B3C1-FCCBDD088580}" type="sibTrans" cxnId="{25F61630-6FD9-4EB6-92E6-52DDFF231432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B0FC2642-9B52-4BC2-9190-56B3ACA8A36B}">
      <dgm:prSet/>
      <dgm:spPr/>
      <dgm:t>
        <a:bodyPr/>
        <a:lstStyle/>
        <a:p>
          <a:r>
            <a:rPr lang="en-US" dirty="0">
              <a:latin typeface="Adobe Garamond Pro" panose="02020502060506020403" pitchFamily="18" charset="0"/>
            </a:rPr>
            <a:t>HbA1c and diabetes burden vary across donor subgroups and counties, with higher levels concentrated in specific demographic and medical-risk groups and in geographic clusters.</a:t>
          </a:r>
        </a:p>
      </dgm:t>
    </dgm:pt>
    <dgm:pt modelId="{305AA4AF-DF5E-46AC-9690-39478EF45C79}" type="parTrans" cxnId="{4C803B51-C4C6-4A98-B253-412E3A2F1B28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F564A656-F834-4AB1-9234-C3E7F2E01AE2}" type="sibTrans" cxnId="{4C803B51-C4C6-4A98-B253-412E3A2F1B28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7D43ECB1-5A54-4740-9C83-C1E1D023144F}" type="pres">
      <dgm:prSet presAssocID="{F7C41877-9B2B-48C8-8DCD-55E6C644F17A}" presName="linear" presStyleCnt="0">
        <dgm:presLayoutVars>
          <dgm:animLvl val="lvl"/>
          <dgm:resizeHandles val="exact"/>
        </dgm:presLayoutVars>
      </dgm:prSet>
      <dgm:spPr/>
    </dgm:pt>
    <dgm:pt modelId="{9FB3969B-E810-479D-8766-CC5FA46F42B6}" type="pres">
      <dgm:prSet presAssocID="{27566E0F-9DCF-4953-A47E-B29AAF812CE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D0DA1AD-D6EC-420F-9A31-73B4E520DD0F}" type="pres">
      <dgm:prSet presAssocID="{27566E0F-9DCF-4953-A47E-B29AAF812CE2}" presName="childText" presStyleLbl="revTx" presStyleIdx="0" presStyleCnt="2">
        <dgm:presLayoutVars>
          <dgm:bulletEnabled val="1"/>
        </dgm:presLayoutVars>
      </dgm:prSet>
      <dgm:spPr/>
    </dgm:pt>
    <dgm:pt modelId="{5D814B5D-4062-4123-B83B-9C59788A5419}" type="pres">
      <dgm:prSet presAssocID="{97240C26-E907-4E1E-A39E-0BDA87CD6D0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0131ADA-0E1E-4609-8A29-4E4CCF493941}" type="pres">
      <dgm:prSet presAssocID="{97240C26-E907-4E1E-A39E-0BDA87CD6D0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CD9D103-7E38-4B6D-81AC-5001ED55BB17}" type="presOf" srcId="{B0FC2642-9B52-4BC2-9190-56B3ACA8A36B}" destId="{70131ADA-0E1E-4609-8A29-4E4CCF493941}" srcOrd="0" destOrd="0" presId="urn:microsoft.com/office/officeart/2005/8/layout/vList2"/>
    <dgm:cxn modelId="{64419118-99DF-479A-B1B6-2B11F1763003}" type="presOf" srcId="{F7C41877-9B2B-48C8-8DCD-55E6C644F17A}" destId="{7D43ECB1-5A54-4740-9C83-C1E1D023144F}" srcOrd="0" destOrd="0" presId="urn:microsoft.com/office/officeart/2005/8/layout/vList2"/>
    <dgm:cxn modelId="{17DB5C27-3C72-4EE5-94B5-101BE24E5C1D}" type="presOf" srcId="{27566E0F-9DCF-4953-A47E-B29AAF812CE2}" destId="{9FB3969B-E810-479D-8766-CC5FA46F42B6}" srcOrd="0" destOrd="0" presId="urn:microsoft.com/office/officeart/2005/8/layout/vList2"/>
    <dgm:cxn modelId="{25F61630-6FD9-4EB6-92E6-52DDFF231432}" srcId="{F7C41877-9B2B-48C8-8DCD-55E6C644F17A}" destId="{97240C26-E907-4E1E-A39E-0BDA87CD6D0F}" srcOrd="1" destOrd="0" parTransId="{0843F226-878A-43C1-8111-6E077C975690}" sibTransId="{34992E48-138A-42A9-B3C1-FCCBDD088580}"/>
    <dgm:cxn modelId="{F346AA40-E05F-408B-981D-285375911A33}" srcId="{F7C41877-9B2B-48C8-8DCD-55E6C644F17A}" destId="{27566E0F-9DCF-4953-A47E-B29AAF812CE2}" srcOrd="0" destOrd="0" parTransId="{0883BED1-38EC-4339-B0A3-5D51036BCDDD}" sibTransId="{BDD7F12B-7011-4FDD-B0A6-8FD3F68B6C9B}"/>
    <dgm:cxn modelId="{1E978F6B-04A8-4D83-AC5D-464D80805C0B}" type="presOf" srcId="{84C28D34-BA36-4377-B18F-5079D3D6C024}" destId="{DD0DA1AD-D6EC-420F-9A31-73B4E520DD0F}" srcOrd="0" destOrd="0" presId="urn:microsoft.com/office/officeart/2005/8/layout/vList2"/>
    <dgm:cxn modelId="{4C803B51-C4C6-4A98-B253-412E3A2F1B28}" srcId="{97240C26-E907-4E1E-A39E-0BDA87CD6D0F}" destId="{B0FC2642-9B52-4BC2-9190-56B3ACA8A36B}" srcOrd="0" destOrd="0" parTransId="{305AA4AF-DF5E-46AC-9690-39478EF45C79}" sibTransId="{F564A656-F834-4AB1-9234-C3E7F2E01AE2}"/>
    <dgm:cxn modelId="{77092E53-6FB6-483F-B94A-37502FD032F3}" type="presOf" srcId="{97240C26-E907-4E1E-A39E-0BDA87CD6D0F}" destId="{5D814B5D-4062-4123-B83B-9C59788A5419}" srcOrd="0" destOrd="0" presId="urn:microsoft.com/office/officeart/2005/8/layout/vList2"/>
    <dgm:cxn modelId="{7DCF71FF-8379-46C2-89C7-E0D198700679}" srcId="{27566E0F-9DCF-4953-A47E-B29AAF812CE2}" destId="{84C28D34-BA36-4377-B18F-5079D3D6C024}" srcOrd="0" destOrd="0" parTransId="{6AA454CE-3B77-46AA-B3A9-5AF70B498328}" sibTransId="{473F8A60-758B-450C-BB9F-989E2D728FF5}"/>
    <dgm:cxn modelId="{12773024-14AA-42DC-9B41-01FCE4B1C738}" type="presParOf" srcId="{7D43ECB1-5A54-4740-9C83-C1E1D023144F}" destId="{9FB3969B-E810-479D-8766-CC5FA46F42B6}" srcOrd="0" destOrd="0" presId="urn:microsoft.com/office/officeart/2005/8/layout/vList2"/>
    <dgm:cxn modelId="{C558C974-2A9D-4734-8404-870BC8E363A2}" type="presParOf" srcId="{7D43ECB1-5A54-4740-9C83-C1E1D023144F}" destId="{DD0DA1AD-D6EC-420F-9A31-73B4E520DD0F}" srcOrd="1" destOrd="0" presId="urn:microsoft.com/office/officeart/2005/8/layout/vList2"/>
    <dgm:cxn modelId="{B1A1F34F-733A-4892-9395-E2758EFB3633}" type="presParOf" srcId="{7D43ECB1-5A54-4740-9C83-C1E1D023144F}" destId="{5D814B5D-4062-4123-B83B-9C59788A5419}" srcOrd="2" destOrd="0" presId="urn:microsoft.com/office/officeart/2005/8/layout/vList2"/>
    <dgm:cxn modelId="{57ECBA6A-ADA1-49E0-8912-C31230B1984D}" type="presParOf" srcId="{7D43ECB1-5A54-4740-9C83-C1E1D023144F}" destId="{70131ADA-0E1E-4609-8A29-4E4CCF49394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49ADB9-DECC-4769-BFD5-F52CF344E2F4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55C2F720-7441-44F5-A8C9-F06881B53359}">
      <dgm:prSet/>
      <dgm:spPr/>
      <dgm:t>
        <a:bodyPr/>
        <a:lstStyle/>
        <a:p>
          <a:r>
            <a:rPr lang="en-US">
              <a:latin typeface="Adobe Garamond Pro" panose="02020502060506020403" pitchFamily="18" charset="0"/>
            </a:rPr>
            <a:t>Analytic cohort: 403,371 unique donors.</a:t>
          </a:r>
        </a:p>
      </dgm:t>
    </dgm:pt>
    <dgm:pt modelId="{80351C2C-951F-44DA-81D7-5BF27F0E79CD}" type="parTrans" cxnId="{2FBA4800-C510-48D2-A19D-5DAE8357B255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D08A2123-6A86-47ED-AE69-B3E812F7CD36}" type="sibTrans" cxnId="{2FBA4800-C510-48D2-A19D-5DAE8357B255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CB6B8E24-E18C-45C3-B30C-6CFBB36FC0F5}">
      <dgm:prSet/>
      <dgm:spPr/>
      <dgm:t>
        <a:bodyPr/>
        <a:lstStyle/>
        <a:p>
          <a:r>
            <a:rPr lang="en-US" dirty="0">
              <a:latin typeface="Adobe Garamond Pro" panose="02020502060506020403" pitchFamily="18" charset="0"/>
            </a:rPr>
            <a:t>Median age was 54 years; 48.0% were female and 14% were first-time donors.</a:t>
          </a:r>
        </a:p>
      </dgm:t>
    </dgm:pt>
    <dgm:pt modelId="{7DF7D0CD-0B87-4EF0-B5F9-13F0BE0E485C}" type="parTrans" cxnId="{3EE02E8E-6404-4E99-B181-8280A9469BCD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95813C9A-E6B1-4126-B0FA-19EE0DCFFBBD}" type="sibTrans" cxnId="{3EE02E8E-6404-4E99-B181-8280A9469BCD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ADD19196-04A4-4FC2-BB2E-DCE0C552E716}">
      <dgm:prSet/>
      <dgm:spPr/>
      <dgm:t>
        <a:bodyPr/>
        <a:lstStyle/>
        <a:p>
          <a:r>
            <a:rPr lang="en-US">
              <a:latin typeface="Adobe Garamond Pro" panose="02020502060506020403" pitchFamily="18" charset="0"/>
            </a:rPr>
            <a:t>Overall glycemic distribution was 77.8% normal, 17.3% prediabetes, and 4.9% diabetes.</a:t>
          </a:r>
        </a:p>
      </dgm:t>
    </dgm:pt>
    <dgm:pt modelId="{0B6395E6-8B97-4074-AEEF-AD56D988553F}" type="parTrans" cxnId="{80181248-F492-4F41-BFE0-7DE8EDAA52D0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26D7B283-4D06-4BB4-9780-CE7415D49FE9}" type="sibTrans" cxnId="{80181248-F492-4F41-BFE0-7DE8EDAA52D0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EAF5CCCA-70DA-412F-BEA6-0ABA0DF82DD9}">
      <dgm:prSet/>
      <dgm:spPr/>
      <dgm:t>
        <a:bodyPr/>
        <a:lstStyle/>
        <a:p>
          <a:r>
            <a:rPr lang="en-US" dirty="0">
              <a:latin typeface="Adobe Garamond Pro" panose="02020502060506020403" pitchFamily="18" charset="0"/>
            </a:rPr>
            <a:t>This descriptive table establishes the cohort context for subsequent subgroup and spatial comparisons.</a:t>
          </a:r>
        </a:p>
      </dgm:t>
    </dgm:pt>
    <dgm:pt modelId="{091D6E71-2E0F-41ED-9276-FCA18091586A}" type="parTrans" cxnId="{5315E905-2DF4-46E0-BEEE-BD8573EC9FBD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EBBB1F94-286D-485D-98E3-3545D0DBB1B5}" type="sibTrans" cxnId="{5315E905-2DF4-46E0-BEEE-BD8573EC9FBD}">
      <dgm:prSet/>
      <dgm:spPr/>
      <dgm:t>
        <a:bodyPr/>
        <a:lstStyle/>
        <a:p>
          <a:endParaRPr lang="en-US">
            <a:latin typeface="Adobe Garamond Pro" panose="02020502060506020403" pitchFamily="18" charset="0"/>
          </a:endParaRPr>
        </a:p>
      </dgm:t>
    </dgm:pt>
    <dgm:pt modelId="{8A2789B9-FAE1-4AA1-BE05-BADCFA8C84E6}" type="pres">
      <dgm:prSet presAssocID="{4249ADB9-DECC-4769-BFD5-F52CF344E2F4}" presName="linear" presStyleCnt="0">
        <dgm:presLayoutVars>
          <dgm:animLvl val="lvl"/>
          <dgm:resizeHandles val="exact"/>
        </dgm:presLayoutVars>
      </dgm:prSet>
      <dgm:spPr/>
    </dgm:pt>
    <dgm:pt modelId="{A8F48174-1761-4F92-A532-D6996C60A233}" type="pres">
      <dgm:prSet presAssocID="{55C2F720-7441-44F5-A8C9-F06881B53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415F7D-1477-486D-B040-477662B2CBF3}" type="pres">
      <dgm:prSet presAssocID="{D08A2123-6A86-47ED-AE69-B3E812F7CD36}" presName="spacer" presStyleCnt="0"/>
      <dgm:spPr/>
    </dgm:pt>
    <dgm:pt modelId="{CB2D7AAE-6234-4E7F-8E68-7112696A3F39}" type="pres">
      <dgm:prSet presAssocID="{CB6B8E24-E18C-45C3-B30C-6CFBB36FC0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30A1E5-D1EC-4913-975B-5C3D687667EB}" type="pres">
      <dgm:prSet presAssocID="{95813C9A-E6B1-4126-B0FA-19EE0DCFFBBD}" presName="spacer" presStyleCnt="0"/>
      <dgm:spPr/>
    </dgm:pt>
    <dgm:pt modelId="{FF61924C-307D-4C83-AB7C-A6C596D255C0}" type="pres">
      <dgm:prSet presAssocID="{ADD19196-04A4-4FC2-BB2E-DCE0C552E7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B99871-D7CC-4E26-80ED-27275FAA3452}" type="pres">
      <dgm:prSet presAssocID="{26D7B283-4D06-4BB4-9780-CE7415D49FE9}" presName="spacer" presStyleCnt="0"/>
      <dgm:spPr/>
    </dgm:pt>
    <dgm:pt modelId="{2ECBB374-63BC-4B51-9154-ECE6F50569E0}" type="pres">
      <dgm:prSet presAssocID="{EAF5CCCA-70DA-412F-BEA6-0ABA0DF82D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BA4800-C510-48D2-A19D-5DAE8357B255}" srcId="{4249ADB9-DECC-4769-BFD5-F52CF344E2F4}" destId="{55C2F720-7441-44F5-A8C9-F06881B53359}" srcOrd="0" destOrd="0" parTransId="{80351C2C-951F-44DA-81D7-5BF27F0E79CD}" sibTransId="{D08A2123-6A86-47ED-AE69-B3E812F7CD36}"/>
    <dgm:cxn modelId="{5315E905-2DF4-46E0-BEEE-BD8573EC9FBD}" srcId="{4249ADB9-DECC-4769-BFD5-F52CF344E2F4}" destId="{EAF5CCCA-70DA-412F-BEA6-0ABA0DF82DD9}" srcOrd="3" destOrd="0" parTransId="{091D6E71-2E0F-41ED-9276-FCA18091586A}" sibTransId="{EBBB1F94-286D-485D-98E3-3545D0DBB1B5}"/>
    <dgm:cxn modelId="{A337A12B-FB7D-48AC-AB35-78722EF597A6}" type="presOf" srcId="{4249ADB9-DECC-4769-BFD5-F52CF344E2F4}" destId="{8A2789B9-FAE1-4AA1-BE05-BADCFA8C84E6}" srcOrd="0" destOrd="0" presId="urn:microsoft.com/office/officeart/2005/8/layout/vList2"/>
    <dgm:cxn modelId="{CFF5F033-4340-4CD5-8B14-679641B74A83}" type="presOf" srcId="{55C2F720-7441-44F5-A8C9-F06881B53359}" destId="{A8F48174-1761-4F92-A532-D6996C60A233}" srcOrd="0" destOrd="0" presId="urn:microsoft.com/office/officeart/2005/8/layout/vList2"/>
    <dgm:cxn modelId="{80181248-F492-4F41-BFE0-7DE8EDAA52D0}" srcId="{4249ADB9-DECC-4769-BFD5-F52CF344E2F4}" destId="{ADD19196-04A4-4FC2-BB2E-DCE0C552E716}" srcOrd="2" destOrd="0" parTransId="{0B6395E6-8B97-4074-AEEF-AD56D988553F}" sibTransId="{26D7B283-4D06-4BB4-9780-CE7415D49FE9}"/>
    <dgm:cxn modelId="{8BEB8B6F-5586-4FF1-BA02-D7B0CB4F8EEA}" type="presOf" srcId="{EAF5CCCA-70DA-412F-BEA6-0ABA0DF82DD9}" destId="{2ECBB374-63BC-4B51-9154-ECE6F50569E0}" srcOrd="0" destOrd="0" presId="urn:microsoft.com/office/officeart/2005/8/layout/vList2"/>
    <dgm:cxn modelId="{8F12BB59-7379-4C5D-83CF-F7CEF39BA3C8}" type="presOf" srcId="{CB6B8E24-E18C-45C3-B30C-6CFBB36FC0F5}" destId="{CB2D7AAE-6234-4E7F-8E68-7112696A3F39}" srcOrd="0" destOrd="0" presId="urn:microsoft.com/office/officeart/2005/8/layout/vList2"/>
    <dgm:cxn modelId="{3EE02E8E-6404-4E99-B181-8280A9469BCD}" srcId="{4249ADB9-DECC-4769-BFD5-F52CF344E2F4}" destId="{CB6B8E24-E18C-45C3-B30C-6CFBB36FC0F5}" srcOrd="1" destOrd="0" parTransId="{7DF7D0CD-0B87-4EF0-B5F9-13F0BE0E485C}" sibTransId="{95813C9A-E6B1-4126-B0FA-19EE0DCFFBBD}"/>
    <dgm:cxn modelId="{82CDC4A5-824B-4C9E-AFB2-45DB8F1DFAB4}" type="presOf" srcId="{ADD19196-04A4-4FC2-BB2E-DCE0C552E716}" destId="{FF61924C-307D-4C83-AB7C-A6C596D255C0}" srcOrd="0" destOrd="0" presId="urn:microsoft.com/office/officeart/2005/8/layout/vList2"/>
    <dgm:cxn modelId="{938C81CB-6B2A-4C26-8B11-D244BB7E5102}" type="presParOf" srcId="{8A2789B9-FAE1-4AA1-BE05-BADCFA8C84E6}" destId="{A8F48174-1761-4F92-A532-D6996C60A233}" srcOrd="0" destOrd="0" presId="urn:microsoft.com/office/officeart/2005/8/layout/vList2"/>
    <dgm:cxn modelId="{49FBCB9A-91FB-433A-8996-C72F3417DEE0}" type="presParOf" srcId="{8A2789B9-FAE1-4AA1-BE05-BADCFA8C84E6}" destId="{15415F7D-1477-486D-B040-477662B2CBF3}" srcOrd="1" destOrd="0" presId="urn:microsoft.com/office/officeart/2005/8/layout/vList2"/>
    <dgm:cxn modelId="{36C041B1-9640-453E-A45D-7DEA8C9891CF}" type="presParOf" srcId="{8A2789B9-FAE1-4AA1-BE05-BADCFA8C84E6}" destId="{CB2D7AAE-6234-4E7F-8E68-7112696A3F39}" srcOrd="2" destOrd="0" presId="urn:microsoft.com/office/officeart/2005/8/layout/vList2"/>
    <dgm:cxn modelId="{CCDBC5B9-5D68-4ED8-8177-112B50CE499D}" type="presParOf" srcId="{8A2789B9-FAE1-4AA1-BE05-BADCFA8C84E6}" destId="{B030A1E5-D1EC-4913-975B-5C3D687667EB}" srcOrd="3" destOrd="0" presId="urn:microsoft.com/office/officeart/2005/8/layout/vList2"/>
    <dgm:cxn modelId="{7CC86D8A-3893-4935-9567-675FE64274C9}" type="presParOf" srcId="{8A2789B9-FAE1-4AA1-BE05-BADCFA8C84E6}" destId="{FF61924C-307D-4C83-AB7C-A6C596D255C0}" srcOrd="4" destOrd="0" presId="urn:microsoft.com/office/officeart/2005/8/layout/vList2"/>
    <dgm:cxn modelId="{BD051EE3-ED42-42EA-ACA8-5EFEA195D0E8}" type="presParOf" srcId="{8A2789B9-FAE1-4AA1-BE05-BADCFA8C84E6}" destId="{4BB99871-D7CC-4E26-80ED-27275FAA3452}" srcOrd="5" destOrd="0" presId="urn:microsoft.com/office/officeart/2005/8/layout/vList2"/>
    <dgm:cxn modelId="{EC7B53A5-0826-4DF7-9E63-2365E1F0CCCB}" type="presParOf" srcId="{8A2789B9-FAE1-4AA1-BE05-BADCFA8C84E6}" destId="{2ECBB374-63BC-4B51-9154-ECE6F50569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9C7CCF-0798-409E-91A4-29D0735D21B0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DA34E7B8-CFBA-46D7-A1AC-53D3002BBC53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These variables were combined later into a binary indicator of any medical history versus none.</a:t>
          </a:r>
        </a:p>
      </dgm:t>
    </dgm:pt>
    <dgm:pt modelId="{4886B834-6DED-4546-A95E-5F0B32EF4284}" type="parTrans" cxnId="{5B2E5243-37C0-44FF-B84F-3845EED2E9F2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CCDE7080-75D3-4F46-B39E-F93F89CCDCDA}" type="sibTrans" cxnId="{5B2E5243-37C0-44FF-B84F-3845EED2E9F2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D653FCDB-DAFA-4CFE-8917-6542E48543B4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That grouping was used to test whether HbA1c is systematically shifted upward among donors with a flagged medical history profile.</a:t>
          </a:r>
        </a:p>
      </dgm:t>
    </dgm:pt>
    <dgm:pt modelId="{EEC3D833-3B9C-4302-9A1E-0EAB6DCF0F95}" type="parTrans" cxnId="{85A79C96-72AE-4161-BB36-3A505695EDC2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1B3BB2A3-6ABD-4928-BD4E-D813657435D0}" type="sibTrans" cxnId="{85A79C96-72AE-4161-BB36-3A505695EDC2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5484B8B1-109F-470D-AF96-EDF18452245E}" type="pres">
      <dgm:prSet presAssocID="{6B9C7CCF-0798-409E-91A4-29D0735D21B0}" presName="linear" presStyleCnt="0">
        <dgm:presLayoutVars>
          <dgm:animLvl val="lvl"/>
          <dgm:resizeHandles val="exact"/>
        </dgm:presLayoutVars>
      </dgm:prSet>
      <dgm:spPr/>
    </dgm:pt>
    <dgm:pt modelId="{8259D425-B50F-4283-9FD0-989D0F616C5B}" type="pres">
      <dgm:prSet presAssocID="{DA34E7B8-CFBA-46D7-A1AC-53D3002BBC5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6E54514-4C59-42EC-B04B-3479E7387F0E}" type="pres">
      <dgm:prSet presAssocID="{CCDE7080-75D3-4F46-B39E-F93F89CCDCDA}" presName="spacer" presStyleCnt="0"/>
      <dgm:spPr/>
    </dgm:pt>
    <dgm:pt modelId="{124CCBB6-B237-49C3-918F-08E700A4AC64}" type="pres">
      <dgm:prSet presAssocID="{D653FCDB-DAFA-4CFE-8917-6542E48543B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BC0411E-1AB5-40F1-B4E7-D3EE2A1551D2}" type="presOf" srcId="{DA34E7B8-CFBA-46D7-A1AC-53D3002BBC53}" destId="{8259D425-B50F-4283-9FD0-989D0F616C5B}" srcOrd="0" destOrd="0" presId="urn:microsoft.com/office/officeart/2005/8/layout/vList2"/>
    <dgm:cxn modelId="{16A07C29-A201-475E-AFAD-58100A1F2F94}" type="presOf" srcId="{D653FCDB-DAFA-4CFE-8917-6542E48543B4}" destId="{124CCBB6-B237-49C3-918F-08E700A4AC64}" srcOrd="0" destOrd="0" presId="urn:microsoft.com/office/officeart/2005/8/layout/vList2"/>
    <dgm:cxn modelId="{5B2E5243-37C0-44FF-B84F-3845EED2E9F2}" srcId="{6B9C7CCF-0798-409E-91A4-29D0735D21B0}" destId="{DA34E7B8-CFBA-46D7-A1AC-53D3002BBC53}" srcOrd="0" destOrd="0" parTransId="{4886B834-6DED-4546-A95E-5F0B32EF4284}" sibTransId="{CCDE7080-75D3-4F46-B39E-F93F89CCDCDA}"/>
    <dgm:cxn modelId="{85A79C96-72AE-4161-BB36-3A505695EDC2}" srcId="{6B9C7CCF-0798-409E-91A4-29D0735D21B0}" destId="{D653FCDB-DAFA-4CFE-8917-6542E48543B4}" srcOrd="1" destOrd="0" parTransId="{EEC3D833-3B9C-4302-9A1E-0EAB6DCF0F95}" sibTransId="{1B3BB2A3-6ABD-4928-BD4E-D813657435D0}"/>
    <dgm:cxn modelId="{DA726DCD-1049-4377-80C7-656B4C4FC32E}" type="presOf" srcId="{6B9C7CCF-0798-409E-91A4-29D0735D21B0}" destId="{5484B8B1-109F-470D-AF96-EDF18452245E}" srcOrd="0" destOrd="0" presId="urn:microsoft.com/office/officeart/2005/8/layout/vList2"/>
    <dgm:cxn modelId="{2DB68811-3FCE-4F2A-A030-BE99CF867973}" type="presParOf" srcId="{5484B8B1-109F-470D-AF96-EDF18452245E}" destId="{8259D425-B50F-4283-9FD0-989D0F616C5B}" srcOrd="0" destOrd="0" presId="urn:microsoft.com/office/officeart/2005/8/layout/vList2"/>
    <dgm:cxn modelId="{73373051-F929-4737-AA32-AEB16C3351EF}" type="presParOf" srcId="{5484B8B1-109F-470D-AF96-EDF18452245E}" destId="{66E54514-4C59-42EC-B04B-3479E7387F0E}" srcOrd="1" destOrd="0" presId="urn:microsoft.com/office/officeart/2005/8/layout/vList2"/>
    <dgm:cxn modelId="{A9184E12-0AAB-40CC-8FB3-EDF43ACEAF35}" type="presParOf" srcId="{5484B8B1-109F-470D-AF96-EDF18452245E}" destId="{124CCBB6-B237-49C3-918F-08E700A4AC6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76001F-D702-4BC6-85AA-BFAA38B91759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E815619-4DF1-47FB-BBBA-00D33E5CD6D1}">
      <dgm:prSet custT="1"/>
      <dgm:spPr/>
      <dgm:t>
        <a:bodyPr/>
        <a:lstStyle/>
        <a:p>
          <a:r>
            <a:rPr lang="en-US" sz="1400" dirty="0">
              <a:latin typeface="Adobe Garamond Pro" panose="02020502060506020403" pitchFamily="18" charset="0"/>
            </a:rPr>
            <a:t>Race/ethnicity composition differed significantly across age-by-sex strata </a:t>
          </a:r>
        </a:p>
        <a:p>
          <a:r>
            <a:rPr lang="en-US" sz="1400" dirty="0">
              <a:latin typeface="Adobe Garamond Pro" panose="02020502060506020403" pitchFamily="18" charset="0"/>
            </a:rPr>
            <a:t>(Pearson chi-squared X^2 = 24,454, p &lt; 0.001).</a:t>
          </a:r>
        </a:p>
      </dgm:t>
    </dgm:pt>
    <dgm:pt modelId="{25E83981-CAF8-4CC2-BC00-9E218420BE7C}" type="parTrans" cxnId="{EC69B2D7-887D-4848-830C-0993D13C1A57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26BDFF50-5012-4710-A268-8B30FE97AD09}" type="sibTrans" cxnId="{EC69B2D7-887D-4848-830C-0993D13C1A57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54819A46-61A3-468D-AD72-2E927A7F0283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Among men, the proportion of White donors increased from 67.7% in donors younger than 29 years to 92.1% in donors aged 55 years or older.</a:t>
          </a:r>
        </a:p>
      </dgm:t>
    </dgm:pt>
    <dgm:pt modelId="{9CB0DEDE-F5A4-45FC-AD97-76C2F6AC524F}" type="parTrans" cxnId="{D1F05BB6-6482-49AD-B12E-27FDC82C089E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7D95A5A4-CBC3-4C19-A4AD-73EAAD3FD1ED}" type="sibTrans" cxnId="{D1F05BB6-6482-49AD-B12E-27FDC82C089E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B4F9B300-7BBF-4354-AA25-E599AC002CFB}">
      <dgm:prSet custT="1"/>
      <dgm:spPr/>
      <dgm:t>
        <a:bodyPr/>
        <a:lstStyle/>
        <a:p>
          <a:r>
            <a:rPr lang="en-US" sz="1400" dirty="0">
              <a:latin typeface="Adobe Garamond Pro" panose="02020502060506020403" pitchFamily="18" charset="0"/>
            </a:rPr>
            <a:t>These denominator differences indicate that apparent HbA1c disparities may partly reflect how heavily each demographic stratum is represented in the screened donor pool.</a:t>
          </a:r>
        </a:p>
      </dgm:t>
    </dgm:pt>
    <dgm:pt modelId="{1F741E96-84BC-40AA-82BA-0676CCF49866}" type="parTrans" cxnId="{79D58F2E-3575-4964-9BEC-538230996533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E547C18B-B515-44C7-A5FD-6F2306B76C5C}" type="sibTrans" cxnId="{79D58F2E-3575-4964-9BEC-538230996533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321FB037-600A-41BA-8648-A2FEADCCD071}" type="pres">
      <dgm:prSet presAssocID="{1276001F-D702-4BC6-85AA-BFAA38B91759}" presName="linear" presStyleCnt="0">
        <dgm:presLayoutVars>
          <dgm:animLvl val="lvl"/>
          <dgm:resizeHandles val="exact"/>
        </dgm:presLayoutVars>
      </dgm:prSet>
      <dgm:spPr/>
    </dgm:pt>
    <dgm:pt modelId="{A2A200AB-FE2D-4378-9180-57648AF363C9}" type="pres">
      <dgm:prSet presAssocID="{7E815619-4DF1-47FB-BBBA-00D33E5CD6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D3A8B1B-6D6B-42A1-BF8C-17F4A40145B5}" type="pres">
      <dgm:prSet presAssocID="{26BDFF50-5012-4710-A268-8B30FE97AD09}" presName="spacer" presStyleCnt="0"/>
      <dgm:spPr/>
    </dgm:pt>
    <dgm:pt modelId="{A8BA9D68-D57D-4CF1-B3C8-E06D0C458164}" type="pres">
      <dgm:prSet presAssocID="{54819A46-61A3-468D-AD72-2E927A7F028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61568D2-930E-41A0-8633-A2F6161321EB}" type="pres">
      <dgm:prSet presAssocID="{7D95A5A4-CBC3-4C19-A4AD-73EAAD3FD1ED}" presName="spacer" presStyleCnt="0"/>
      <dgm:spPr/>
    </dgm:pt>
    <dgm:pt modelId="{79A5252D-593C-4CE4-9DDD-8AAC78D32DA9}" type="pres">
      <dgm:prSet presAssocID="{B4F9B300-7BBF-4354-AA25-E599AC002C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9D58F2E-3575-4964-9BEC-538230996533}" srcId="{1276001F-D702-4BC6-85AA-BFAA38B91759}" destId="{B4F9B300-7BBF-4354-AA25-E599AC002CFB}" srcOrd="2" destOrd="0" parTransId="{1F741E96-84BC-40AA-82BA-0676CCF49866}" sibTransId="{E547C18B-B515-44C7-A5FD-6F2306B76C5C}"/>
    <dgm:cxn modelId="{657AFF44-F7E7-4FD3-8C3A-6750E6C69E37}" type="presOf" srcId="{7E815619-4DF1-47FB-BBBA-00D33E5CD6D1}" destId="{A2A200AB-FE2D-4378-9180-57648AF363C9}" srcOrd="0" destOrd="0" presId="urn:microsoft.com/office/officeart/2005/8/layout/vList2"/>
    <dgm:cxn modelId="{05213685-5B05-4F44-B429-A5BDFD4287D1}" type="presOf" srcId="{1276001F-D702-4BC6-85AA-BFAA38B91759}" destId="{321FB037-600A-41BA-8648-A2FEADCCD071}" srcOrd="0" destOrd="0" presId="urn:microsoft.com/office/officeart/2005/8/layout/vList2"/>
    <dgm:cxn modelId="{D384A0AB-FD03-47CD-AE1B-189AE57957D1}" type="presOf" srcId="{B4F9B300-7BBF-4354-AA25-E599AC002CFB}" destId="{79A5252D-593C-4CE4-9DDD-8AAC78D32DA9}" srcOrd="0" destOrd="0" presId="urn:microsoft.com/office/officeart/2005/8/layout/vList2"/>
    <dgm:cxn modelId="{D1F05BB6-6482-49AD-B12E-27FDC82C089E}" srcId="{1276001F-D702-4BC6-85AA-BFAA38B91759}" destId="{54819A46-61A3-468D-AD72-2E927A7F0283}" srcOrd="1" destOrd="0" parTransId="{9CB0DEDE-F5A4-45FC-AD97-76C2F6AC524F}" sibTransId="{7D95A5A4-CBC3-4C19-A4AD-73EAAD3FD1ED}"/>
    <dgm:cxn modelId="{2434C4BF-BF0F-46CE-8E74-A9E62476573D}" type="presOf" srcId="{54819A46-61A3-468D-AD72-2E927A7F0283}" destId="{A8BA9D68-D57D-4CF1-B3C8-E06D0C458164}" srcOrd="0" destOrd="0" presId="urn:microsoft.com/office/officeart/2005/8/layout/vList2"/>
    <dgm:cxn modelId="{EC69B2D7-887D-4848-830C-0993D13C1A57}" srcId="{1276001F-D702-4BC6-85AA-BFAA38B91759}" destId="{7E815619-4DF1-47FB-BBBA-00D33E5CD6D1}" srcOrd="0" destOrd="0" parTransId="{25E83981-CAF8-4CC2-BC00-9E218420BE7C}" sibTransId="{26BDFF50-5012-4710-A268-8B30FE97AD09}"/>
    <dgm:cxn modelId="{2BEE3796-CC84-439A-97BD-B7D575ECDD98}" type="presParOf" srcId="{321FB037-600A-41BA-8648-A2FEADCCD071}" destId="{A2A200AB-FE2D-4378-9180-57648AF363C9}" srcOrd="0" destOrd="0" presId="urn:microsoft.com/office/officeart/2005/8/layout/vList2"/>
    <dgm:cxn modelId="{440082D8-0A83-43A2-9DEE-21F8B3F64657}" type="presParOf" srcId="{321FB037-600A-41BA-8648-A2FEADCCD071}" destId="{BD3A8B1B-6D6B-42A1-BF8C-17F4A40145B5}" srcOrd="1" destOrd="0" presId="urn:microsoft.com/office/officeart/2005/8/layout/vList2"/>
    <dgm:cxn modelId="{9E990B4E-A3D2-4924-AC82-FEA8C42D854D}" type="presParOf" srcId="{321FB037-600A-41BA-8648-A2FEADCCD071}" destId="{A8BA9D68-D57D-4CF1-B3C8-E06D0C458164}" srcOrd="2" destOrd="0" presId="urn:microsoft.com/office/officeart/2005/8/layout/vList2"/>
    <dgm:cxn modelId="{AE4D9C3F-6369-47C6-8708-F2EEF39D81F0}" type="presParOf" srcId="{321FB037-600A-41BA-8648-A2FEADCCD071}" destId="{E61568D2-930E-41A0-8633-A2F6161321EB}" srcOrd="3" destOrd="0" presId="urn:microsoft.com/office/officeart/2005/8/layout/vList2"/>
    <dgm:cxn modelId="{CCA6D2A5-16D9-4D35-9BD3-98A30EF9E02F}" type="presParOf" srcId="{321FB037-600A-41BA-8648-A2FEADCCD071}" destId="{79A5252D-593C-4CE4-9DDD-8AAC78D32DA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258604-3064-449E-BFCE-28DFCFBE4B1D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465B7C5C-437E-4D0B-9FC1-68F280D9AC8F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Glycemic status differed significantly across age-by-sex strata (Pearson chi-squared X^2 = 45,552, p &lt; 0.001).</a:t>
          </a:r>
        </a:p>
      </dgm:t>
    </dgm:pt>
    <dgm:pt modelId="{2901BC39-70D0-4198-A4B8-BBEA11801571}" type="parTrans" cxnId="{0F719575-5039-4812-98ED-F8DD9D8F904C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A70D24FA-E453-4339-88B7-C788589161FD}" type="sibTrans" cxnId="{0F719575-5039-4812-98ED-F8DD9D8F904C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C03030B1-F5F7-45FA-AE8A-E372882E6EE3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Diabetes prevalence increased from 0.5% in women younger than 29 years and 0.6% in men younger than 29 years to 4.8% and 10.7%, respectively, among donors aged 55 years or older.</a:t>
          </a:r>
        </a:p>
      </dgm:t>
    </dgm:pt>
    <dgm:pt modelId="{4B04575E-DF7A-49D1-9DB6-A52FA71DCC50}" type="parTrans" cxnId="{7D3ECA0C-D4CB-4662-A94F-82416098C5D5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AE5EA0D3-8FCF-4BFF-8F65-DE0FFAC921E2}" type="sibTrans" cxnId="{7D3ECA0C-D4CB-4662-A94F-82416098C5D5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E8BFAD06-1010-4B5E-9507-9FD384F7E63F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Older men carried the highest burden of dysglycemia, with both prediabetes and diabetes proportions notably elevated relative to younger donor groups.</a:t>
          </a:r>
        </a:p>
      </dgm:t>
    </dgm:pt>
    <dgm:pt modelId="{CF7AF3DB-C2A8-49BB-8E64-01B731C2BB75}" type="parTrans" cxnId="{D77465F3-B389-470E-A813-FC3F5982B8B8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DA7DEF8A-107C-472D-ABDA-3F7C5CABB61D}" type="sibTrans" cxnId="{D77465F3-B389-470E-A813-FC3F5982B8B8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9BF51280-5489-4D55-AA84-C15B1E39F608}" type="pres">
      <dgm:prSet presAssocID="{93258604-3064-449E-BFCE-28DFCFBE4B1D}" presName="linear" presStyleCnt="0">
        <dgm:presLayoutVars>
          <dgm:animLvl val="lvl"/>
          <dgm:resizeHandles val="exact"/>
        </dgm:presLayoutVars>
      </dgm:prSet>
      <dgm:spPr/>
    </dgm:pt>
    <dgm:pt modelId="{988F62A3-2C8D-442A-8A11-7C83535C391C}" type="pres">
      <dgm:prSet presAssocID="{465B7C5C-437E-4D0B-9FC1-68F280D9AC8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96D7C2-89E4-48F9-BE2E-4F932E4B167A}" type="pres">
      <dgm:prSet presAssocID="{A70D24FA-E453-4339-88B7-C788589161FD}" presName="spacer" presStyleCnt="0"/>
      <dgm:spPr/>
    </dgm:pt>
    <dgm:pt modelId="{3D9B0776-7892-4517-864F-FC02D157EF57}" type="pres">
      <dgm:prSet presAssocID="{C03030B1-F5F7-45FA-AE8A-E372882E6E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C3E02C-1EFA-4466-9128-AB7EB971575D}" type="pres">
      <dgm:prSet presAssocID="{AE5EA0D3-8FCF-4BFF-8F65-DE0FFAC921E2}" presName="spacer" presStyleCnt="0"/>
      <dgm:spPr/>
    </dgm:pt>
    <dgm:pt modelId="{806357A0-2434-48F0-93B5-150F9E3814E1}" type="pres">
      <dgm:prSet presAssocID="{E8BFAD06-1010-4B5E-9507-9FD384F7E63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980AC01-8497-487C-A0E1-A2A0263E08EC}" type="presOf" srcId="{465B7C5C-437E-4D0B-9FC1-68F280D9AC8F}" destId="{988F62A3-2C8D-442A-8A11-7C83535C391C}" srcOrd="0" destOrd="0" presId="urn:microsoft.com/office/officeart/2005/8/layout/vList2"/>
    <dgm:cxn modelId="{7D3ECA0C-D4CB-4662-A94F-82416098C5D5}" srcId="{93258604-3064-449E-BFCE-28DFCFBE4B1D}" destId="{C03030B1-F5F7-45FA-AE8A-E372882E6EE3}" srcOrd="1" destOrd="0" parTransId="{4B04575E-DF7A-49D1-9DB6-A52FA71DCC50}" sibTransId="{AE5EA0D3-8FCF-4BFF-8F65-DE0FFAC921E2}"/>
    <dgm:cxn modelId="{0F719575-5039-4812-98ED-F8DD9D8F904C}" srcId="{93258604-3064-449E-BFCE-28DFCFBE4B1D}" destId="{465B7C5C-437E-4D0B-9FC1-68F280D9AC8F}" srcOrd="0" destOrd="0" parTransId="{2901BC39-70D0-4198-A4B8-BBEA11801571}" sibTransId="{A70D24FA-E453-4339-88B7-C788589161FD}"/>
    <dgm:cxn modelId="{5920F0A3-70A4-4CE2-8D7B-A03A95215FD1}" type="presOf" srcId="{93258604-3064-449E-BFCE-28DFCFBE4B1D}" destId="{9BF51280-5489-4D55-AA84-C15B1E39F608}" srcOrd="0" destOrd="0" presId="urn:microsoft.com/office/officeart/2005/8/layout/vList2"/>
    <dgm:cxn modelId="{897805C4-D5A2-4E2B-AFE1-A0F7954788F9}" type="presOf" srcId="{C03030B1-F5F7-45FA-AE8A-E372882E6EE3}" destId="{3D9B0776-7892-4517-864F-FC02D157EF57}" srcOrd="0" destOrd="0" presId="urn:microsoft.com/office/officeart/2005/8/layout/vList2"/>
    <dgm:cxn modelId="{E96239C7-6E70-4B58-AC7B-1566BED99341}" type="presOf" srcId="{E8BFAD06-1010-4B5E-9507-9FD384F7E63F}" destId="{806357A0-2434-48F0-93B5-150F9E3814E1}" srcOrd="0" destOrd="0" presId="urn:microsoft.com/office/officeart/2005/8/layout/vList2"/>
    <dgm:cxn modelId="{D77465F3-B389-470E-A813-FC3F5982B8B8}" srcId="{93258604-3064-449E-BFCE-28DFCFBE4B1D}" destId="{E8BFAD06-1010-4B5E-9507-9FD384F7E63F}" srcOrd="2" destOrd="0" parTransId="{CF7AF3DB-C2A8-49BB-8E64-01B731C2BB75}" sibTransId="{DA7DEF8A-107C-472D-ABDA-3F7C5CABB61D}"/>
    <dgm:cxn modelId="{6F645B2B-D6D0-4FF7-906E-32AAB3EE7457}" type="presParOf" srcId="{9BF51280-5489-4D55-AA84-C15B1E39F608}" destId="{988F62A3-2C8D-442A-8A11-7C83535C391C}" srcOrd="0" destOrd="0" presId="urn:microsoft.com/office/officeart/2005/8/layout/vList2"/>
    <dgm:cxn modelId="{6B74A8EA-E006-4753-BBB6-37D52BD99CEE}" type="presParOf" srcId="{9BF51280-5489-4D55-AA84-C15B1E39F608}" destId="{2C96D7C2-89E4-48F9-BE2E-4F932E4B167A}" srcOrd="1" destOrd="0" presId="urn:microsoft.com/office/officeart/2005/8/layout/vList2"/>
    <dgm:cxn modelId="{4B5CB046-B2BD-4102-A3E7-04F1DDAF3B73}" type="presParOf" srcId="{9BF51280-5489-4D55-AA84-C15B1E39F608}" destId="{3D9B0776-7892-4517-864F-FC02D157EF57}" srcOrd="2" destOrd="0" presId="urn:microsoft.com/office/officeart/2005/8/layout/vList2"/>
    <dgm:cxn modelId="{441C9EFA-D1BF-4C1B-A11E-D652B9FC93EB}" type="presParOf" srcId="{9BF51280-5489-4D55-AA84-C15B1E39F608}" destId="{B6C3E02C-1EFA-4466-9128-AB7EB971575D}" srcOrd="3" destOrd="0" presId="urn:microsoft.com/office/officeart/2005/8/layout/vList2"/>
    <dgm:cxn modelId="{5499B775-C74E-4006-A519-D81522CBFF5B}" type="presParOf" srcId="{9BF51280-5489-4D55-AA84-C15B1E39F608}" destId="{806357A0-2434-48F0-93B5-150F9E3814E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DDA7E9-00EA-4B22-953D-E028B74F55F6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BC15AE8-FD13-434A-AC8E-097A9B6281FB}">
      <dgm:prSet custT="1"/>
      <dgm:spPr/>
      <dgm:t>
        <a:bodyPr/>
        <a:lstStyle/>
        <a:p>
          <a:r>
            <a:rPr lang="en-US" sz="1400" dirty="0">
              <a:latin typeface="Adobe Garamond Pro" panose="02020502060506020403" pitchFamily="18" charset="0"/>
            </a:rPr>
            <a:t>The highest combined prediabetes plus diabetes burden was observed in men aged 55 years or older: 40.5%.</a:t>
          </a:r>
        </a:p>
      </dgm:t>
    </dgm:pt>
    <dgm:pt modelId="{42E90629-9FC9-443B-A7BB-A523134A1C03}" type="parTrans" cxnId="{326149D2-801A-4B70-AC81-BB16745BDDFB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43FA0312-4485-4687-B552-1A02AD189F85}" type="sibTrans" cxnId="{326149D2-801A-4B70-AC81-BB16745BDDFB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AF21349F-C5E5-40E1-86AC-542F76A904BA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For comparison, women younger than 29 years had a combined dysglycemia burden of only 2.9%.</a:t>
          </a:r>
        </a:p>
      </dgm:t>
    </dgm:pt>
    <dgm:pt modelId="{67DAACAC-5393-41BA-B887-95B503F29374}" type="parTrans" cxnId="{295CD981-77C6-4CBC-BE14-51C4B0257482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BCDE6EEA-B9FC-443F-AF2E-FB6CA641EC18}" type="sibTrans" cxnId="{295CD981-77C6-4CBC-BE14-51C4B0257482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10756051-85A3-4462-9346-4D9645956C47}" type="pres">
      <dgm:prSet presAssocID="{68DDA7E9-00EA-4B22-953D-E028B74F55F6}" presName="linear" presStyleCnt="0">
        <dgm:presLayoutVars>
          <dgm:animLvl val="lvl"/>
          <dgm:resizeHandles val="exact"/>
        </dgm:presLayoutVars>
      </dgm:prSet>
      <dgm:spPr/>
    </dgm:pt>
    <dgm:pt modelId="{3714DDAC-9714-4DB6-BF1E-CEA592CB6A8C}" type="pres">
      <dgm:prSet presAssocID="{6BC15AE8-FD13-434A-AC8E-097A9B6281F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8306F96-9D22-4222-9A6F-70356C3AE490}" type="pres">
      <dgm:prSet presAssocID="{43FA0312-4485-4687-B552-1A02AD189F85}" presName="spacer" presStyleCnt="0"/>
      <dgm:spPr/>
    </dgm:pt>
    <dgm:pt modelId="{20FAE770-1330-479C-821D-50E33391C4B5}" type="pres">
      <dgm:prSet presAssocID="{AF21349F-C5E5-40E1-86AC-542F76A904B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40C210B-1B88-40DB-AC91-6AD0B4B689E1}" type="presOf" srcId="{6BC15AE8-FD13-434A-AC8E-097A9B6281FB}" destId="{3714DDAC-9714-4DB6-BF1E-CEA592CB6A8C}" srcOrd="0" destOrd="0" presId="urn:microsoft.com/office/officeart/2005/8/layout/vList2"/>
    <dgm:cxn modelId="{1FA0C065-B93E-451A-9A97-1ECBE88BE8CF}" type="presOf" srcId="{68DDA7E9-00EA-4B22-953D-E028B74F55F6}" destId="{10756051-85A3-4462-9346-4D9645956C47}" srcOrd="0" destOrd="0" presId="urn:microsoft.com/office/officeart/2005/8/layout/vList2"/>
    <dgm:cxn modelId="{295CD981-77C6-4CBC-BE14-51C4B0257482}" srcId="{68DDA7E9-00EA-4B22-953D-E028B74F55F6}" destId="{AF21349F-C5E5-40E1-86AC-542F76A904BA}" srcOrd="1" destOrd="0" parTransId="{67DAACAC-5393-41BA-B887-95B503F29374}" sibTransId="{BCDE6EEA-B9FC-443F-AF2E-FB6CA641EC18}"/>
    <dgm:cxn modelId="{326149D2-801A-4B70-AC81-BB16745BDDFB}" srcId="{68DDA7E9-00EA-4B22-953D-E028B74F55F6}" destId="{6BC15AE8-FD13-434A-AC8E-097A9B6281FB}" srcOrd="0" destOrd="0" parTransId="{42E90629-9FC9-443B-A7BB-A523134A1C03}" sibTransId="{43FA0312-4485-4687-B552-1A02AD189F85}"/>
    <dgm:cxn modelId="{27BA63F6-419D-4CC8-A726-CAB0D59B85F3}" type="presOf" srcId="{AF21349F-C5E5-40E1-86AC-542F76A904BA}" destId="{20FAE770-1330-479C-821D-50E33391C4B5}" srcOrd="0" destOrd="0" presId="urn:microsoft.com/office/officeart/2005/8/layout/vList2"/>
    <dgm:cxn modelId="{38991159-F307-45A0-B863-0F822B3C18EC}" type="presParOf" srcId="{10756051-85A3-4462-9346-4D9645956C47}" destId="{3714DDAC-9714-4DB6-BF1E-CEA592CB6A8C}" srcOrd="0" destOrd="0" presId="urn:microsoft.com/office/officeart/2005/8/layout/vList2"/>
    <dgm:cxn modelId="{45FA9FE8-3290-4151-BE06-ECBD2C17357F}" type="presParOf" srcId="{10756051-85A3-4462-9346-4D9645956C47}" destId="{A8306F96-9D22-4222-9A6F-70356C3AE490}" srcOrd="1" destOrd="0" presId="urn:microsoft.com/office/officeart/2005/8/layout/vList2"/>
    <dgm:cxn modelId="{1BCCF056-B888-49A7-8A99-4FB8E2B7370D}" type="presParOf" srcId="{10756051-85A3-4462-9346-4D9645956C47}" destId="{20FAE770-1330-479C-821D-50E33391C4B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40C99D-C90C-4475-886C-313FA5938A4A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49536F8E-D67F-4D86-AC58-44EFADA97379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HbA1c distributions differed significantly across age groups (Kruskal-Wallis chi-squared = 75,592, p &lt; 0.001).</a:t>
          </a:r>
        </a:p>
      </dgm:t>
    </dgm:pt>
    <dgm:pt modelId="{E13ACD6E-7E6B-4186-BB32-49C512637007}" type="parTrans" cxnId="{6DBA3B1C-DFE3-4FB9-B2A2-A38587A752ED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2257F6E7-5A92-4290-BD0B-46E1F03AC7AA}" type="sibTrans" cxnId="{6DBA3B1C-DFE3-4FB9-B2A2-A38587A752ED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B79FB5FF-0ADA-4453-BC44-993DDE96D6E4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Median HbA1c increased from 5.1% in donors younger than 29 years to 5.3% in donors aged 30-54 years and 5.5% in donors aged 55 years or older.</a:t>
          </a:r>
        </a:p>
      </dgm:t>
    </dgm:pt>
    <dgm:pt modelId="{13433EB9-573A-45FF-98CF-A16FE405549C}" type="parTrans" cxnId="{110EC060-4A94-4D7D-83CA-FA64D9823161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F814A056-B2D7-4E71-8633-B00E104B2BF3}" type="sibTrans" cxnId="{110EC060-4A94-4D7D-83CA-FA64D9823161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C4A1E836-4128-4BA5-8EE9-E81DEFBE4F3E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The rightward shift of the full distribution suggests that the age effect is broad-based and not driven only by a small number of highly elevated observations.</a:t>
          </a:r>
        </a:p>
      </dgm:t>
    </dgm:pt>
    <dgm:pt modelId="{4F7303E5-45F7-4171-B451-3EA4F59C11E0}" type="parTrans" cxnId="{30A4BA67-69D1-491F-90CF-0A87DEA0EDBF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9954F7B5-171F-471B-AB67-0D51161FC528}" type="sibTrans" cxnId="{30A4BA67-69D1-491F-90CF-0A87DEA0EDBF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36DF7DB1-2AF2-4CC4-837E-E060AE5AEB16}" type="pres">
      <dgm:prSet presAssocID="{B840C99D-C90C-4475-886C-313FA5938A4A}" presName="linear" presStyleCnt="0">
        <dgm:presLayoutVars>
          <dgm:animLvl val="lvl"/>
          <dgm:resizeHandles val="exact"/>
        </dgm:presLayoutVars>
      </dgm:prSet>
      <dgm:spPr/>
    </dgm:pt>
    <dgm:pt modelId="{426F23D4-B13B-440E-BE70-F40F7FEB6B4F}" type="pres">
      <dgm:prSet presAssocID="{49536F8E-D67F-4D86-AC58-44EFADA973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66E9837-8E99-46D1-B5F8-1172E0749012}" type="pres">
      <dgm:prSet presAssocID="{2257F6E7-5A92-4290-BD0B-46E1F03AC7AA}" presName="spacer" presStyleCnt="0"/>
      <dgm:spPr/>
    </dgm:pt>
    <dgm:pt modelId="{19174D1A-65F7-4304-8384-767B2564305D}" type="pres">
      <dgm:prSet presAssocID="{B79FB5FF-0ADA-4453-BC44-993DDE96D6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4C285D2-0919-4656-AA91-4A49691A4588}" type="pres">
      <dgm:prSet presAssocID="{F814A056-B2D7-4E71-8633-B00E104B2BF3}" presName="spacer" presStyleCnt="0"/>
      <dgm:spPr/>
    </dgm:pt>
    <dgm:pt modelId="{487686F6-C6B0-4CF0-B9C7-76DA07F2B239}" type="pres">
      <dgm:prSet presAssocID="{C4A1E836-4128-4BA5-8EE9-E81DEFBE4F3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44CC90B-5291-4C1F-81E9-689C4DA483F3}" type="presOf" srcId="{B79FB5FF-0ADA-4453-BC44-993DDE96D6E4}" destId="{19174D1A-65F7-4304-8384-767B2564305D}" srcOrd="0" destOrd="0" presId="urn:microsoft.com/office/officeart/2005/8/layout/vList2"/>
    <dgm:cxn modelId="{6DBA3B1C-DFE3-4FB9-B2A2-A38587A752ED}" srcId="{B840C99D-C90C-4475-886C-313FA5938A4A}" destId="{49536F8E-D67F-4D86-AC58-44EFADA97379}" srcOrd="0" destOrd="0" parTransId="{E13ACD6E-7E6B-4186-BB32-49C512637007}" sibTransId="{2257F6E7-5A92-4290-BD0B-46E1F03AC7AA}"/>
    <dgm:cxn modelId="{110EC060-4A94-4D7D-83CA-FA64D9823161}" srcId="{B840C99D-C90C-4475-886C-313FA5938A4A}" destId="{B79FB5FF-0ADA-4453-BC44-993DDE96D6E4}" srcOrd="1" destOrd="0" parTransId="{13433EB9-573A-45FF-98CF-A16FE405549C}" sibTransId="{F814A056-B2D7-4E71-8633-B00E104B2BF3}"/>
    <dgm:cxn modelId="{140EEF66-666D-4A98-9434-52DB87847614}" type="presOf" srcId="{B840C99D-C90C-4475-886C-313FA5938A4A}" destId="{36DF7DB1-2AF2-4CC4-837E-E060AE5AEB16}" srcOrd="0" destOrd="0" presId="urn:microsoft.com/office/officeart/2005/8/layout/vList2"/>
    <dgm:cxn modelId="{30A4BA67-69D1-491F-90CF-0A87DEA0EDBF}" srcId="{B840C99D-C90C-4475-886C-313FA5938A4A}" destId="{C4A1E836-4128-4BA5-8EE9-E81DEFBE4F3E}" srcOrd="2" destOrd="0" parTransId="{4F7303E5-45F7-4171-B451-3EA4F59C11E0}" sibTransId="{9954F7B5-171F-471B-AB67-0D51161FC528}"/>
    <dgm:cxn modelId="{1EB78B57-2232-41B9-AB68-23B5D632FDDD}" type="presOf" srcId="{C4A1E836-4128-4BA5-8EE9-E81DEFBE4F3E}" destId="{487686F6-C6B0-4CF0-B9C7-76DA07F2B239}" srcOrd="0" destOrd="0" presId="urn:microsoft.com/office/officeart/2005/8/layout/vList2"/>
    <dgm:cxn modelId="{AB29CA7A-901F-4B84-B400-875C8D444C74}" type="presOf" srcId="{49536F8E-D67F-4D86-AC58-44EFADA97379}" destId="{426F23D4-B13B-440E-BE70-F40F7FEB6B4F}" srcOrd="0" destOrd="0" presId="urn:microsoft.com/office/officeart/2005/8/layout/vList2"/>
    <dgm:cxn modelId="{2F1B6F76-E78D-48E4-8FD9-20DD4628D964}" type="presParOf" srcId="{36DF7DB1-2AF2-4CC4-837E-E060AE5AEB16}" destId="{426F23D4-B13B-440E-BE70-F40F7FEB6B4F}" srcOrd="0" destOrd="0" presId="urn:microsoft.com/office/officeart/2005/8/layout/vList2"/>
    <dgm:cxn modelId="{4DFCA827-D251-4EF2-BC77-677A4A085883}" type="presParOf" srcId="{36DF7DB1-2AF2-4CC4-837E-E060AE5AEB16}" destId="{466E9837-8E99-46D1-B5F8-1172E0749012}" srcOrd="1" destOrd="0" presId="urn:microsoft.com/office/officeart/2005/8/layout/vList2"/>
    <dgm:cxn modelId="{193F48E7-C5AB-451A-B733-1CFD6AD822A5}" type="presParOf" srcId="{36DF7DB1-2AF2-4CC4-837E-E060AE5AEB16}" destId="{19174D1A-65F7-4304-8384-767B2564305D}" srcOrd="2" destOrd="0" presId="urn:microsoft.com/office/officeart/2005/8/layout/vList2"/>
    <dgm:cxn modelId="{244AC044-847A-423D-8384-23E9CC0CB165}" type="presParOf" srcId="{36DF7DB1-2AF2-4CC4-837E-E060AE5AEB16}" destId="{54C285D2-0919-4656-AA91-4A49691A4588}" srcOrd="3" destOrd="0" presId="urn:microsoft.com/office/officeart/2005/8/layout/vList2"/>
    <dgm:cxn modelId="{BCE38596-6D45-403C-B6CF-DE2964194DD1}" type="presParOf" srcId="{36DF7DB1-2AF2-4CC4-837E-E060AE5AEB16}" destId="{487686F6-C6B0-4CF0-B9C7-76DA07F2B23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151DF9-D665-405A-BA63-02E203831D38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D7AA485A-7953-49CA-AA5B-61488561F05F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HbA1c distributions differed significantly across race/ethnicity groups (Kruskal-Wallis chi-squared = 1,626.3, p &lt; 0.001).</a:t>
          </a:r>
        </a:p>
      </dgm:t>
    </dgm:pt>
    <dgm:pt modelId="{B2A4EA9A-5CCE-416C-99C5-CD08C2BF85AA}" type="parTrans" cxnId="{3DD01F56-9FF0-4C76-8A59-03269F13D02A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FA1554F7-A242-4304-B14E-CECE07EF526F}" type="sibTrans" cxnId="{3DD01F56-9FF0-4C76-8A59-03269F13D02A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AAB4DBAE-674B-4CFC-8BE9-D97DE8152A2F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Median HbA1c was highest among Black donors (5.5%), followed by Asian/other donors (5.4%), and lower in Hispanic Origin and White donors (both 5.3%).</a:t>
          </a:r>
        </a:p>
      </dgm:t>
    </dgm:pt>
    <dgm:pt modelId="{D999B09B-5840-44E4-A6BC-AACB289771D0}" type="parTrans" cxnId="{1F1F9BD1-DE88-4BDC-A111-86B78E0C0675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921D8D66-D636-4591-82FC-ADB48BE54F56}" type="sibTrans" cxnId="{1F1F9BD1-DE88-4BDC-A111-86B78E0C0675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86092DFB-C9E3-47C1-A402-4F7D6381F110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These differences are modest in absolute magnitude but statistically robust because they reflect systematic distributional shifts across a large donor sample.</a:t>
          </a:r>
        </a:p>
      </dgm:t>
    </dgm:pt>
    <dgm:pt modelId="{F23E3E50-F3D4-440E-B0ED-278CA887A8AF}" type="parTrans" cxnId="{AB7BF99F-FD84-4594-8DB9-7A51DC6992B6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FBD73E4D-2237-4BD6-8A48-0E76CA78E0C1}" type="sibTrans" cxnId="{AB7BF99F-FD84-4594-8DB9-7A51DC6992B6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FE0E08E3-7188-437B-8898-3E5C5401765C}" type="pres">
      <dgm:prSet presAssocID="{60151DF9-D665-405A-BA63-02E203831D38}" presName="linear" presStyleCnt="0">
        <dgm:presLayoutVars>
          <dgm:animLvl val="lvl"/>
          <dgm:resizeHandles val="exact"/>
        </dgm:presLayoutVars>
      </dgm:prSet>
      <dgm:spPr/>
    </dgm:pt>
    <dgm:pt modelId="{B401B9BD-4860-44E7-9EB5-C48B2A257FE0}" type="pres">
      <dgm:prSet presAssocID="{D7AA485A-7953-49CA-AA5B-61488561F0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9D2F04-A915-4895-9EA9-D3E7E8E20111}" type="pres">
      <dgm:prSet presAssocID="{FA1554F7-A242-4304-B14E-CECE07EF526F}" presName="spacer" presStyleCnt="0"/>
      <dgm:spPr/>
    </dgm:pt>
    <dgm:pt modelId="{F4BC3392-CBA7-4C05-A75A-921D6FBB8463}" type="pres">
      <dgm:prSet presAssocID="{AAB4DBAE-674B-4CFC-8BE9-D97DE8152A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A3AAE69-6C34-4A36-B0B1-12B984D135B2}" type="pres">
      <dgm:prSet presAssocID="{921D8D66-D636-4591-82FC-ADB48BE54F56}" presName="spacer" presStyleCnt="0"/>
      <dgm:spPr/>
    </dgm:pt>
    <dgm:pt modelId="{60CADF35-1D1B-4B25-88A9-D633B65AD4AE}" type="pres">
      <dgm:prSet presAssocID="{86092DFB-C9E3-47C1-A402-4F7D6381F11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D8D3239-848A-4BC0-B0A3-DC470E8CE034}" type="presOf" srcId="{60151DF9-D665-405A-BA63-02E203831D38}" destId="{FE0E08E3-7188-437B-8898-3E5C5401765C}" srcOrd="0" destOrd="0" presId="urn:microsoft.com/office/officeart/2005/8/layout/vList2"/>
    <dgm:cxn modelId="{1B876542-BA2C-480E-9F6A-20A6B2290D64}" type="presOf" srcId="{AAB4DBAE-674B-4CFC-8BE9-D97DE8152A2F}" destId="{F4BC3392-CBA7-4C05-A75A-921D6FBB8463}" srcOrd="0" destOrd="0" presId="urn:microsoft.com/office/officeart/2005/8/layout/vList2"/>
    <dgm:cxn modelId="{86285B64-B7F3-4C8F-B669-29C759D66AC0}" type="presOf" srcId="{86092DFB-C9E3-47C1-A402-4F7D6381F110}" destId="{60CADF35-1D1B-4B25-88A9-D633B65AD4AE}" srcOrd="0" destOrd="0" presId="urn:microsoft.com/office/officeart/2005/8/layout/vList2"/>
    <dgm:cxn modelId="{3DD01F56-9FF0-4C76-8A59-03269F13D02A}" srcId="{60151DF9-D665-405A-BA63-02E203831D38}" destId="{D7AA485A-7953-49CA-AA5B-61488561F05F}" srcOrd="0" destOrd="0" parTransId="{B2A4EA9A-5CCE-416C-99C5-CD08C2BF85AA}" sibTransId="{FA1554F7-A242-4304-B14E-CECE07EF526F}"/>
    <dgm:cxn modelId="{AB7BF99F-FD84-4594-8DB9-7A51DC6992B6}" srcId="{60151DF9-D665-405A-BA63-02E203831D38}" destId="{86092DFB-C9E3-47C1-A402-4F7D6381F110}" srcOrd="2" destOrd="0" parTransId="{F23E3E50-F3D4-440E-B0ED-278CA887A8AF}" sibTransId="{FBD73E4D-2237-4BD6-8A48-0E76CA78E0C1}"/>
    <dgm:cxn modelId="{B51F64C0-FB3D-463D-AEB7-F04F6C0FF027}" type="presOf" srcId="{D7AA485A-7953-49CA-AA5B-61488561F05F}" destId="{B401B9BD-4860-44E7-9EB5-C48B2A257FE0}" srcOrd="0" destOrd="0" presId="urn:microsoft.com/office/officeart/2005/8/layout/vList2"/>
    <dgm:cxn modelId="{1F1F9BD1-DE88-4BDC-A111-86B78E0C0675}" srcId="{60151DF9-D665-405A-BA63-02E203831D38}" destId="{AAB4DBAE-674B-4CFC-8BE9-D97DE8152A2F}" srcOrd="1" destOrd="0" parTransId="{D999B09B-5840-44E4-A6BC-AACB289771D0}" sibTransId="{921D8D66-D636-4591-82FC-ADB48BE54F56}"/>
    <dgm:cxn modelId="{AA6D7A9B-90F2-46E3-8BF7-430745ACE78B}" type="presParOf" srcId="{FE0E08E3-7188-437B-8898-3E5C5401765C}" destId="{B401B9BD-4860-44E7-9EB5-C48B2A257FE0}" srcOrd="0" destOrd="0" presId="urn:microsoft.com/office/officeart/2005/8/layout/vList2"/>
    <dgm:cxn modelId="{E0BCC9B0-9FED-4770-A056-22A17D5371B9}" type="presParOf" srcId="{FE0E08E3-7188-437B-8898-3E5C5401765C}" destId="{809D2F04-A915-4895-9EA9-D3E7E8E20111}" srcOrd="1" destOrd="0" presId="urn:microsoft.com/office/officeart/2005/8/layout/vList2"/>
    <dgm:cxn modelId="{3314E685-904E-461B-99AD-D38BA4015D3D}" type="presParOf" srcId="{FE0E08E3-7188-437B-8898-3E5C5401765C}" destId="{F4BC3392-CBA7-4C05-A75A-921D6FBB8463}" srcOrd="2" destOrd="0" presId="urn:microsoft.com/office/officeart/2005/8/layout/vList2"/>
    <dgm:cxn modelId="{D621073A-3E02-449B-8870-93ABCEA540DE}" type="presParOf" srcId="{FE0E08E3-7188-437B-8898-3E5C5401765C}" destId="{6A3AAE69-6C34-4A36-B0B1-12B984D135B2}" srcOrd="3" destOrd="0" presId="urn:microsoft.com/office/officeart/2005/8/layout/vList2"/>
    <dgm:cxn modelId="{7BDBCF92-F91B-4151-80D5-1D7B0BF5BB99}" type="presParOf" srcId="{FE0E08E3-7188-437B-8898-3E5C5401765C}" destId="{60CADF35-1D1B-4B25-88A9-D633B65AD4A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F8091C-A8C7-4C58-97AE-EF8F8FD83566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1842303A-1E8E-4E4E-AACB-B3FA1F11DC67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Donors with any flagged medical history had significantly higher HbA1c values than those without (Wilcoxon rank-sum, p &lt; 0.001).</a:t>
          </a:r>
        </a:p>
      </dgm:t>
    </dgm:pt>
    <dgm:pt modelId="{BA3F0FA6-6A51-42E6-8FFA-51AE62D2CC0D}" type="parTrans" cxnId="{46BE093E-75C1-441B-93F1-D96185DB94E5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7D696E4E-E2CE-4280-9833-D997CEABC62D}" type="sibTrans" cxnId="{46BE093E-75C1-441B-93F1-D96185DB94E5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CC627F9A-0E99-4243-AE70-EAAD17D65881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Median HbA1c was 5.5% among donors with any medical history versus 5.3% among donors without.</a:t>
          </a:r>
        </a:p>
      </dgm:t>
    </dgm:pt>
    <dgm:pt modelId="{770CD0B9-60A2-4B17-B060-ED23C76842F8}" type="parTrans" cxnId="{849A52B0-A02F-44B3-BD57-31DB70947EBE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22197F3B-8BAB-45CE-BC9B-5DED3C5C3528}" type="sibTrans" cxnId="{849A52B0-A02F-44B3-BD57-31DB70947EBE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3B1D2B8B-231D-4B50-87E9-8A3C5CC0535E}">
      <dgm:prSet custT="1"/>
      <dgm:spPr/>
      <dgm:t>
        <a:bodyPr/>
        <a:lstStyle/>
        <a:p>
          <a:r>
            <a:rPr lang="en-US" sz="1400">
              <a:latin typeface="Adobe Garamond Pro" panose="02020502060506020403" pitchFamily="18" charset="0"/>
            </a:rPr>
            <a:t>The distribution is shifted to the right rather than differing only in the extreme upper tail, supporting a generalized association between medical-history burden and higher glycemic levels.</a:t>
          </a:r>
        </a:p>
      </dgm:t>
    </dgm:pt>
    <dgm:pt modelId="{E526B168-AA76-4E69-8F36-405C377E2BBB}" type="parTrans" cxnId="{CDF04E72-4D91-4629-B16F-2FFF9C8A5AD9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9FB32E56-25C1-4A2C-A4E8-C262FC657735}" type="sibTrans" cxnId="{CDF04E72-4D91-4629-B16F-2FFF9C8A5AD9}">
      <dgm:prSet/>
      <dgm:spPr/>
      <dgm:t>
        <a:bodyPr/>
        <a:lstStyle/>
        <a:p>
          <a:endParaRPr lang="en-US" sz="1400">
            <a:latin typeface="Adobe Garamond Pro" panose="02020502060506020403" pitchFamily="18" charset="0"/>
          </a:endParaRPr>
        </a:p>
      </dgm:t>
    </dgm:pt>
    <dgm:pt modelId="{632F4F88-2274-43B6-A3FE-93765ECBD7B9}" type="pres">
      <dgm:prSet presAssocID="{ADF8091C-A8C7-4C58-97AE-EF8F8FD83566}" presName="linear" presStyleCnt="0">
        <dgm:presLayoutVars>
          <dgm:animLvl val="lvl"/>
          <dgm:resizeHandles val="exact"/>
        </dgm:presLayoutVars>
      </dgm:prSet>
      <dgm:spPr/>
    </dgm:pt>
    <dgm:pt modelId="{2129F58A-C0CA-487B-B4F2-C06B650AFB11}" type="pres">
      <dgm:prSet presAssocID="{1842303A-1E8E-4E4E-AACB-B3FA1F11DC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4DE122B-83D9-4FFE-A47A-249BA1E47B05}" type="pres">
      <dgm:prSet presAssocID="{7D696E4E-E2CE-4280-9833-D997CEABC62D}" presName="spacer" presStyleCnt="0"/>
      <dgm:spPr/>
    </dgm:pt>
    <dgm:pt modelId="{72E70F71-7AB9-443D-93EB-28C0C96C4048}" type="pres">
      <dgm:prSet presAssocID="{CC627F9A-0E99-4243-AE70-EAAD17D658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46803B3-1584-4576-9255-492BEB78D6C5}" type="pres">
      <dgm:prSet presAssocID="{22197F3B-8BAB-45CE-BC9B-5DED3C5C3528}" presName="spacer" presStyleCnt="0"/>
      <dgm:spPr/>
    </dgm:pt>
    <dgm:pt modelId="{D6B59A29-E403-426F-837E-706BBE4FFF45}" type="pres">
      <dgm:prSet presAssocID="{3B1D2B8B-231D-4B50-87E9-8A3C5CC0535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C7BF107-8F5B-44A2-B04C-B55455F15255}" type="presOf" srcId="{1842303A-1E8E-4E4E-AACB-B3FA1F11DC67}" destId="{2129F58A-C0CA-487B-B4F2-C06B650AFB11}" srcOrd="0" destOrd="0" presId="urn:microsoft.com/office/officeart/2005/8/layout/vList2"/>
    <dgm:cxn modelId="{D942AA0D-80E7-446C-AEE9-EC7282606FD7}" type="presOf" srcId="{CC627F9A-0E99-4243-AE70-EAAD17D65881}" destId="{72E70F71-7AB9-443D-93EB-28C0C96C4048}" srcOrd="0" destOrd="0" presId="urn:microsoft.com/office/officeart/2005/8/layout/vList2"/>
    <dgm:cxn modelId="{46BE093E-75C1-441B-93F1-D96185DB94E5}" srcId="{ADF8091C-A8C7-4C58-97AE-EF8F8FD83566}" destId="{1842303A-1E8E-4E4E-AACB-B3FA1F11DC67}" srcOrd="0" destOrd="0" parTransId="{BA3F0FA6-6A51-42E6-8FFA-51AE62D2CC0D}" sibTransId="{7D696E4E-E2CE-4280-9833-D997CEABC62D}"/>
    <dgm:cxn modelId="{CDF04E72-4D91-4629-B16F-2FFF9C8A5AD9}" srcId="{ADF8091C-A8C7-4C58-97AE-EF8F8FD83566}" destId="{3B1D2B8B-231D-4B50-87E9-8A3C5CC0535E}" srcOrd="2" destOrd="0" parTransId="{E526B168-AA76-4E69-8F36-405C377E2BBB}" sibTransId="{9FB32E56-25C1-4A2C-A4E8-C262FC657735}"/>
    <dgm:cxn modelId="{7BA83B54-81AE-4944-B5A5-5F55AFCBED8B}" type="presOf" srcId="{ADF8091C-A8C7-4C58-97AE-EF8F8FD83566}" destId="{632F4F88-2274-43B6-A3FE-93765ECBD7B9}" srcOrd="0" destOrd="0" presId="urn:microsoft.com/office/officeart/2005/8/layout/vList2"/>
    <dgm:cxn modelId="{979680A2-C8B6-4AF9-B171-415FA57C5D29}" type="presOf" srcId="{3B1D2B8B-231D-4B50-87E9-8A3C5CC0535E}" destId="{D6B59A29-E403-426F-837E-706BBE4FFF45}" srcOrd="0" destOrd="0" presId="urn:microsoft.com/office/officeart/2005/8/layout/vList2"/>
    <dgm:cxn modelId="{849A52B0-A02F-44B3-BD57-31DB70947EBE}" srcId="{ADF8091C-A8C7-4C58-97AE-EF8F8FD83566}" destId="{CC627F9A-0E99-4243-AE70-EAAD17D65881}" srcOrd="1" destOrd="0" parTransId="{770CD0B9-60A2-4B17-B060-ED23C76842F8}" sibTransId="{22197F3B-8BAB-45CE-BC9B-5DED3C5C3528}"/>
    <dgm:cxn modelId="{E8A1E842-5841-4FC9-95B9-27A6C37D99AF}" type="presParOf" srcId="{632F4F88-2274-43B6-A3FE-93765ECBD7B9}" destId="{2129F58A-C0CA-487B-B4F2-C06B650AFB11}" srcOrd="0" destOrd="0" presId="urn:microsoft.com/office/officeart/2005/8/layout/vList2"/>
    <dgm:cxn modelId="{900F53C1-A7E1-4E94-9F06-FBD6AB3B2ED3}" type="presParOf" srcId="{632F4F88-2274-43B6-A3FE-93765ECBD7B9}" destId="{24DE122B-83D9-4FFE-A47A-249BA1E47B05}" srcOrd="1" destOrd="0" presId="urn:microsoft.com/office/officeart/2005/8/layout/vList2"/>
    <dgm:cxn modelId="{54EEFDBC-FF97-423D-AAC2-CEFEAFB92C75}" type="presParOf" srcId="{632F4F88-2274-43B6-A3FE-93765ECBD7B9}" destId="{72E70F71-7AB9-443D-93EB-28C0C96C4048}" srcOrd="2" destOrd="0" presId="urn:microsoft.com/office/officeart/2005/8/layout/vList2"/>
    <dgm:cxn modelId="{C66DD3C5-4EA1-4130-9049-79F09CAE03EA}" type="presParOf" srcId="{632F4F88-2274-43B6-A3FE-93765ECBD7B9}" destId="{246803B3-1584-4576-9255-492BEB78D6C5}" srcOrd="3" destOrd="0" presId="urn:microsoft.com/office/officeart/2005/8/layout/vList2"/>
    <dgm:cxn modelId="{E8F923F1-C23B-43EB-A1E0-8C8021495732}" type="presParOf" srcId="{632F4F88-2274-43B6-A3FE-93765ECBD7B9}" destId="{D6B59A29-E403-426F-837E-706BBE4FFF4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F15EEB0-C91D-47C6-B519-A51E0D087997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89D0E240-CB6F-4B5C-9E03-7557F07309F5}">
      <dgm:prSet custT="1"/>
      <dgm:spPr/>
      <dgm:t>
        <a:bodyPr/>
        <a:lstStyle/>
        <a:p>
          <a:r>
            <a:rPr lang="en-US" sz="1050">
              <a:latin typeface="Adobe Garamond Pro" panose="02020502060506020403" pitchFamily="18" charset="0"/>
            </a:rPr>
            <a:t>Among 1,593 counties with at least 20 donors, 223 met Gi* significance criteria for a hotspot or coldspot.</a:t>
          </a:r>
        </a:p>
      </dgm:t>
    </dgm:pt>
    <dgm:pt modelId="{CA133CF3-6F00-4196-ABEF-149B01F34CA8}" type="parTrans" cxnId="{A198AB26-947C-4E53-A954-5558590E52B4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E66A3C4F-779E-46BA-9AD9-E347FDBF5C69}" type="sibTrans" cxnId="{A198AB26-947C-4E53-A954-5558590E52B4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55398975-F71F-47C8-86B5-EFC2F2F52C9A}">
      <dgm:prSet custT="1"/>
      <dgm:spPr/>
      <dgm:t>
        <a:bodyPr/>
        <a:lstStyle/>
        <a:p>
          <a:r>
            <a:rPr lang="en-US" sz="1050">
              <a:latin typeface="Adobe Garamond Pro" panose="02020502060506020403" pitchFamily="18" charset="0"/>
            </a:rPr>
            <a:t>This included 139 hotspot counties and 84 coldspot counties; 41 hotspots and 3 coldspots met the 99% significance threshold.</a:t>
          </a:r>
        </a:p>
      </dgm:t>
    </dgm:pt>
    <dgm:pt modelId="{62A3872E-84D3-44E1-B3FA-28B061BB35FB}" type="parTrans" cxnId="{902AA4DC-FC56-4858-B5C0-EF966D75ECE6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C19B9FB8-0BE0-4E95-BDD8-DB3A4B7547C8}" type="sibTrans" cxnId="{902AA4DC-FC56-4858-B5C0-EF966D75ECE6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9215350D-6B67-4DE6-95E9-B888C32DFD1F}">
      <dgm:prSet custT="1"/>
      <dgm:spPr/>
      <dgm:t>
        <a:bodyPr/>
        <a:lstStyle/>
        <a:p>
          <a:r>
            <a:rPr lang="en-US" sz="1050">
              <a:latin typeface="Adobe Garamond Pro" panose="02020502060506020403" pitchFamily="18" charset="0"/>
            </a:rPr>
            <a:t>Hotspot status reflects local spatial clustering rather than a county's raw percentage alone, which is why isolated high-value counties may not be classified as hotspots.</a:t>
          </a:r>
        </a:p>
      </dgm:t>
    </dgm:pt>
    <dgm:pt modelId="{FB2C229D-9C78-4783-B9DC-066C48F778DB}" type="parTrans" cxnId="{2B0B8BCA-3B4A-4BC4-A9FC-7EBC0E3749E6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6055A9BE-6997-4A65-8F35-82EED8A08121}" type="sibTrans" cxnId="{2B0B8BCA-3B4A-4BC4-A9FC-7EBC0E3749E6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D92803CE-53A5-4D2D-A8FF-C4416E93E6B1}">
      <dgm:prSet custT="1"/>
      <dgm:spPr/>
      <dgm:t>
        <a:bodyPr/>
        <a:lstStyle/>
        <a:p>
          <a:r>
            <a:rPr lang="en-US" sz="1050" dirty="0">
              <a:latin typeface="Adobe Garamond Pro" panose="02020502060506020403" pitchFamily="18" charset="0"/>
            </a:rPr>
            <a:t>The interactive county map is available at this link. </a:t>
          </a:r>
          <a:r>
            <a:rPr lang="en-US" sz="1050" dirty="0">
              <a:latin typeface="Adobe Garamond Pro" panose="02020502060506020403" pitchFamily="18" charset="0"/>
              <a:hlinkClick xmlns:r="http://schemas.openxmlformats.org/officeDocument/2006/relationships" r:id="rId1"/>
            </a:rPr>
            <a:t>https://singhuh.github.io/a1c_march2026/A1c_march_2026</a:t>
          </a:r>
          <a:r>
            <a:rPr lang="en-US" sz="1050" dirty="0">
              <a:latin typeface="Adobe Garamond Pro" panose="02020502060506020403" pitchFamily="18" charset="0"/>
            </a:rPr>
            <a:t> </a:t>
          </a:r>
        </a:p>
      </dgm:t>
    </dgm:pt>
    <dgm:pt modelId="{2895FB32-1099-4C4D-A5AD-937562F76772}" type="parTrans" cxnId="{D53F1714-C93D-4B5D-9D57-394D5826EF20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4340ED5C-E3A8-4319-8987-66083C25BBAF}" type="sibTrans" cxnId="{D53F1714-C93D-4B5D-9D57-394D5826EF20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EF26FD06-5B0F-4AF7-93F1-BC005BF2D0BA}">
      <dgm:prSet custT="1"/>
      <dgm:spPr/>
      <dgm:t>
        <a:bodyPr/>
        <a:lstStyle/>
        <a:p>
          <a:r>
            <a:rPr lang="en-US" sz="1050">
              <a:latin typeface="Adobe Garamond Pro" panose="02020502060506020403" pitchFamily="18" charset="0"/>
            </a:rPr>
            <a:t>The hotspot percentages are the statistical confidence level for the hotspot test. </a:t>
          </a:r>
        </a:p>
      </dgm:t>
    </dgm:pt>
    <dgm:pt modelId="{C8C8B167-99DB-459B-8809-4829B71920F0}" type="parTrans" cxnId="{50414464-F6D1-405C-8299-5981A4ED81E3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101AADAC-E36B-4C6D-8EDD-205F3AB62A20}" type="sibTrans" cxnId="{50414464-F6D1-405C-8299-5981A4ED81E3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B26FC256-6D61-4BA9-AB20-807C460D3534}">
      <dgm:prSet custT="1"/>
      <dgm:spPr/>
      <dgm:t>
        <a:bodyPr/>
        <a:lstStyle/>
        <a:p>
          <a:r>
            <a:rPr lang="en-US" sz="900">
              <a:latin typeface="Adobe Garamond Pro" panose="02020502060506020403" pitchFamily="18" charset="0"/>
            </a:rPr>
            <a:t>Hot spot (99%) means the county is part of a cluster of unusually high diabetes percentages, with very strong statistical evidence against random chance. </a:t>
          </a:r>
        </a:p>
      </dgm:t>
    </dgm:pt>
    <dgm:pt modelId="{00D05766-29EA-4FF6-AC07-5F4005627CF6}" type="parTrans" cxnId="{B3E44414-65DF-4B77-BD5B-7F483DBF97FD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C437F16B-1972-4523-9420-9507D367F2A9}" type="sibTrans" cxnId="{B3E44414-65DF-4B77-BD5B-7F483DBF97FD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93CA1952-DD94-4939-A94E-D6B5DF3576DA}">
      <dgm:prSet custT="1"/>
      <dgm:spPr/>
      <dgm:t>
        <a:bodyPr/>
        <a:lstStyle/>
        <a:p>
          <a:r>
            <a:rPr lang="en-US" sz="900">
              <a:latin typeface="Adobe Garamond Pro" panose="02020502060506020403" pitchFamily="18" charset="0"/>
            </a:rPr>
            <a:t>Hot spot (90%): weaker but still statistically significant evidence of a high-value cluster</a:t>
          </a:r>
        </a:p>
      </dgm:t>
    </dgm:pt>
    <dgm:pt modelId="{A003F323-A758-4B21-9F98-C49579415D4F}" type="parTrans" cxnId="{D474739A-74B6-432F-B70B-BA077CA9C504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8C60AA8A-D1E9-47C8-BE4A-01460942BCE7}" type="sibTrans" cxnId="{D474739A-74B6-432F-B70B-BA077CA9C504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F168685D-1470-4625-B499-E03FF006F585}">
      <dgm:prSet custT="1"/>
      <dgm:spPr/>
      <dgm:t>
        <a:bodyPr/>
        <a:lstStyle/>
        <a:p>
          <a:r>
            <a:rPr lang="en-US" sz="900">
              <a:latin typeface="Adobe Garamond Pro" panose="02020502060506020403" pitchFamily="18" charset="0"/>
            </a:rPr>
            <a:t>Hot spot (95%): moderate evidence</a:t>
          </a:r>
        </a:p>
      </dgm:t>
    </dgm:pt>
    <dgm:pt modelId="{52C8532F-0C30-46A8-B8CF-84456482992F}" type="parTrans" cxnId="{4A375ED3-2253-489C-8BBF-47DABC4C920F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A7BA4D8E-BA20-474C-89E9-43A6936D3487}" type="sibTrans" cxnId="{4A375ED3-2253-489C-8BBF-47DABC4C920F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E468AB92-C398-43B3-B855-56C6848E663C}">
      <dgm:prSet custT="1"/>
      <dgm:spPr/>
      <dgm:t>
        <a:bodyPr/>
        <a:lstStyle/>
        <a:p>
          <a:r>
            <a:rPr lang="en-US" sz="900">
              <a:latin typeface="Adobe Garamond Pro" panose="02020502060506020403" pitchFamily="18" charset="0"/>
            </a:rPr>
            <a:t>Hot spot (99%): strongest evidence</a:t>
          </a:r>
        </a:p>
      </dgm:t>
    </dgm:pt>
    <dgm:pt modelId="{25264304-60C7-4FCA-926F-8597D5DFE052}" type="parTrans" cxnId="{6C9977CA-1DCC-4D7A-A04F-2B8C9F818A25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513ABBAB-9EF6-4E6C-B1CF-B7603009C0C6}" type="sibTrans" cxnId="{6C9977CA-1DCC-4D7A-A04F-2B8C9F818A25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960F9145-B95A-4E3C-851C-4C3D6000ADF5}">
      <dgm:prSet custT="1"/>
      <dgm:spPr/>
      <dgm:t>
        <a:bodyPr/>
        <a:lstStyle/>
        <a:p>
          <a:r>
            <a:rPr lang="en-US" sz="900">
              <a:latin typeface="Adobe Garamond Pro" panose="02020502060506020403" pitchFamily="18" charset="0"/>
            </a:rPr>
            <a:t>Cold spot (90%/95%/99%): the same idea, but for clusters of unusually low diabetes percentages</a:t>
          </a:r>
        </a:p>
      </dgm:t>
    </dgm:pt>
    <dgm:pt modelId="{8405D677-4F34-444F-A0D1-5BCECA79FC43}" type="parTrans" cxnId="{A436A320-A8AB-4455-9BF2-FDC54ED2094F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67AF2F64-6652-44F6-9A8D-C8CA710E99FC}" type="sibTrans" cxnId="{A436A320-A8AB-4455-9BF2-FDC54ED2094F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3BD1FF98-E974-4B6B-8809-0A67BA9EAF18}">
      <dgm:prSet custT="1"/>
      <dgm:spPr/>
      <dgm:t>
        <a:bodyPr/>
        <a:lstStyle/>
        <a:p>
          <a:r>
            <a:rPr lang="en-US" sz="900">
              <a:latin typeface="Adobe Garamond Pro" panose="02020502060506020403" pitchFamily="18" charset="0"/>
            </a:rPr>
            <a:t>Not significant: no statistically detectable local clustering</a:t>
          </a:r>
        </a:p>
      </dgm:t>
    </dgm:pt>
    <dgm:pt modelId="{8B81139D-E4D7-423E-83B5-650ADB6EF37E}" type="parTrans" cxnId="{42831D3D-A45C-45B1-93EA-331F848C1E2A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E3704C87-DCC1-4F16-A379-9AFDAFC398DC}" type="sibTrans" cxnId="{42831D3D-A45C-45B1-93EA-331F848C1E2A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60E96C41-3544-42A5-92FD-36A42680E89F}">
      <dgm:prSet custT="1"/>
      <dgm:spPr/>
      <dgm:t>
        <a:bodyPr/>
        <a:lstStyle/>
        <a:p>
          <a:r>
            <a:rPr lang="en-US" sz="1050">
              <a:latin typeface="Adobe Garamond Pro" panose="02020502060506020403" pitchFamily="18" charset="0"/>
            </a:rPr>
            <a:t>For a county is labeled Hot spot (99%), it means: </a:t>
          </a:r>
        </a:p>
      </dgm:t>
    </dgm:pt>
    <dgm:pt modelId="{C99BE5DA-560E-43F3-AC7E-31C1FEE60B75}" type="parTrans" cxnId="{BDED6740-7D31-4F45-8763-E3F35FA13EC6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B61B4530-CF3A-494C-854D-4F2602D6469C}" type="sibTrans" cxnId="{BDED6740-7D31-4F45-8763-E3F35FA13EC6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DEE5AD7C-0795-48C5-A543-87672AB3D138}">
      <dgm:prSet custT="1"/>
      <dgm:spPr/>
      <dgm:t>
        <a:bodyPr/>
        <a:lstStyle/>
        <a:p>
          <a:r>
            <a:rPr lang="en-US" sz="900">
              <a:latin typeface="Adobe Garamond Pro" panose="02020502060506020403" pitchFamily="18" charset="0"/>
            </a:rPr>
            <a:t>the county and its neighboring counties form a high-value cluster that clustering is very unlikely to be due to random variation alone. </a:t>
          </a:r>
        </a:p>
      </dgm:t>
    </dgm:pt>
    <dgm:pt modelId="{81EEFB05-04DF-4FD7-9CE9-2E77FC7DFAD5}" type="parTrans" cxnId="{C4FE1ACC-8579-483E-9D4D-73454E6995D3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AEB4D38A-2062-4324-BB6A-64C8C31EAA7C}" type="sibTrans" cxnId="{C4FE1ACC-8579-483E-9D4D-73454E6995D3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3540B853-6FE8-4B74-A1C6-228A24991460}">
      <dgm:prSet custT="1"/>
      <dgm:spPr/>
      <dgm:t>
        <a:bodyPr/>
        <a:lstStyle/>
        <a:p>
          <a:r>
            <a:rPr lang="en-US" sz="1050">
              <a:latin typeface="Adobe Garamond Pro" panose="02020502060506020403" pitchFamily="18" charset="0"/>
            </a:rPr>
            <a:t>Important distinction (in the interactive map):</a:t>
          </a:r>
        </a:p>
      </dgm:t>
    </dgm:pt>
    <dgm:pt modelId="{C65CB36F-4540-4DEB-B717-897E08CD0425}" type="parTrans" cxnId="{F011FFC4-DCF3-4018-8FC4-4157710A72C8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98295C8C-8976-465F-B6B4-CDA9715995C0}" type="sibTrans" cxnId="{F011FFC4-DCF3-4018-8FC4-4157710A72C8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D5EAEBC0-0FDB-4B80-BF86-C2CDFD081B3F}">
      <dgm:prSet custT="1"/>
      <dgm:spPr/>
      <dgm:t>
        <a:bodyPr/>
        <a:lstStyle/>
        <a:p>
          <a:r>
            <a:rPr lang="en-US" sz="1050" dirty="0">
              <a:latin typeface="Adobe Garamond Pro" panose="02020502060506020403" pitchFamily="18" charset="0"/>
            </a:rPr>
            <a:t>Diabetes% = the county’s observed percentage diabetic</a:t>
          </a:r>
        </a:p>
      </dgm:t>
    </dgm:pt>
    <dgm:pt modelId="{70B1A95E-4259-49BD-9E64-EEA7E5A06AB4}" type="parTrans" cxnId="{8836FBFA-8E48-4D05-92D2-28176C0A1A21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228F6CA3-28FE-4E4C-A155-4FE9C0C981EC}" type="sibTrans" cxnId="{8836FBFA-8E48-4D05-92D2-28176C0A1A21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9643A4AC-243B-4493-8B6F-B142D0ABCE93}">
      <dgm:prSet custT="1"/>
      <dgm:spPr/>
      <dgm:t>
        <a:bodyPr/>
        <a:lstStyle/>
        <a:p>
          <a:r>
            <a:rPr lang="en-US" sz="1050" dirty="0">
              <a:latin typeface="Adobe Garamond Pro" panose="02020502060506020403" pitchFamily="18" charset="0"/>
            </a:rPr>
            <a:t>Hot spot (99%) = how strongly the county belongs to a statistically significant high cluster relative to neighbors</a:t>
          </a:r>
        </a:p>
      </dgm:t>
    </dgm:pt>
    <dgm:pt modelId="{DB8BFE88-2F22-4450-A0A1-3C9F89CC7D26}" type="parTrans" cxnId="{95FD1846-35CC-48E7-9B7D-FE83F5AC219D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DFB76582-1FAA-404E-8934-1532DA54C228}" type="sibTrans" cxnId="{95FD1846-35CC-48E7-9B7D-FE83F5AC219D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F97D5B7A-A1CB-4738-98C4-AADBF599D15B}">
      <dgm:prSet custT="1"/>
      <dgm:spPr/>
      <dgm:t>
        <a:bodyPr/>
        <a:lstStyle/>
        <a:p>
          <a:r>
            <a:rPr lang="en-US" sz="1050" dirty="0">
              <a:latin typeface="Adobe Garamond Pro" panose="02020502060506020403" pitchFamily="18" charset="0"/>
            </a:rPr>
            <a:t>So, a county with a higher raw diabetes % can still be Not significant, while another county with a lower % can be Hot spot (99%) if it sits inside a stronger regional cluster.</a:t>
          </a:r>
        </a:p>
      </dgm:t>
    </dgm:pt>
    <dgm:pt modelId="{BE56EB9B-3837-46A9-A804-7BCD93F76262}" type="parTrans" cxnId="{D3A25D2B-3404-4E34-BF8E-90CF6F962134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F2D977E2-40E9-47AE-8A67-C9F1D1B42C58}" type="sibTrans" cxnId="{D3A25D2B-3404-4E34-BF8E-90CF6F962134}">
      <dgm:prSet/>
      <dgm:spPr/>
      <dgm:t>
        <a:bodyPr/>
        <a:lstStyle/>
        <a:p>
          <a:endParaRPr lang="en-US" sz="2400">
            <a:latin typeface="Adobe Garamond Pro" panose="02020502060506020403" pitchFamily="18" charset="0"/>
          </a:endParaRPr>
        </a:p>
      </dgm:t>
    </dgm:pt>
    <dgm:pt modelId="{EEF1EB77-6977-472F-B358-BCCE794993DE}" type="pres">
      <dgm:prSet presAssocID="{2F15EEB0-C91D-47C6-B519-A51E0D087997}" presName="linear" presStyleCnt="0">
        <dgm:presLayoutVars>
          <dgm:animLvl val="lvl"/>
          <dgm:resizeHandles val="exact"/>
        </dgm:presLayoutVars>
      </dgm:prSet>
      <dgm:spPr/>
    </dgm:pt>
    <dgm:pt modelId="{5294AF61-5ECF-4C5E-86D5-ACDA4E59F54D}" type="pres">
      <dgm:prSet presAssocID="{89D0E240-CB6F-4B5C-9E03-7557F07309F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80592B6-57A1-46BF-AB26-001C83548E8D}" type="pres">
      <dgm:prSet presAssocID="{E66A3C4F-779E-46BA-9AD9-E347FDBF5C69}" presName="spacer" presStyleCnt="0"/>
      <dgm:spPr/>
    </dgm:pt>
    <dgm:pt modelId="{296ABDFD-2342-4696-ACB9-38E481CB551D}" type="pres">
      <dgm:prSet presAssocID="{55398975-F71F-47C8-86B5-EFC2F2F52C9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702F63E-C613-4DBB-907E-DD5E9A13AB49}" type="pres">
      <dgm:prSet presAssocID="{C19B9FB8-0BE0-4E95-BDD8-DB3A4B7547C8}" presName="spacer" presStyleCnt="0"/>
      <dgm:spPr/>
    </dgm:pt>
    <dgm:pt modelId="{FD99EBD2-8C07-42C2-A1D3-BA5019494C9B}" type="pres">
      <dgm:prSet presAssocID="{9215350D-6B67-4DE6-95E9-B888C32DFD1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B5B9D5E-FD24-4EC7-A8DC-B24199B22528}" type="pres">
      <dgm:prSet presAssocID="{6055A9BE-6997-4A65-8F35-82EED8A08121}" presName="spacer" presStyleCnt="0"/>
      <dgm:spPr/>
    </dgm:pt>
    <dgm:pt modelId="{2EC93D9A-A5AD-4D55-AAC2-982919DF61A8}" type="pres">
      <dgm:prSet presAssocID="{D92803CE-53A5-4D2D-A8FF-C4416E93E6B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A6E2513-8487-41D9-8E5C-F18AE038FEDF}" type="pres">
      <dgm:prSet presAssocID="{4340ED5C-E3A8-4319-8987-66083C25BBAF}" presName="spacer" presStyleCnt="0"/>
      <dgm:spPr/>
    </dgm:pt>
    <dgm:pt modelId="{E87A3C4A-4372-4476-B5BA-7AFCD2A044CC}" type="pres">
      <dgm:prSet presAssocID="{EF26FD06-5B0F-4AF7-93F1-BC005BF2D0B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E3636FD-C2DF-40B9-A575-D43F37E81DF2}" type="pres">
      <dgm:prSet presAssocID="{EF26FD06-5B0F-4AF7-93F1-BC005BF2D0BA}" presName="childText" presStyleLbl="revTx" presStyleIdx="0" presStyleCnt="3">
        <dgm:presLayoutVars>
          <dgm:bulletEnabled val="1"/>
        </dgm:presLayoutVars>
      </dgm:prSet>
      <dgm:spPr/>
    </dgm:pt>
    <dgm:pt modelId="{2BB88372-80AA-4607-B163-A8A9E63578A6}" type="pres">
      <dgm:prSet presAssocID="{60E96C41-3544-42A5-92FD-36A42680E89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FF0BF56-9297-467E-943E-FED81C6478C6}" type="pres">
      <dgm:prSet presAssocID="{60E96C41-3544-42A5-92FD-36A42680E89F}" presName="childText" presStyleLbl="revTx" presStyleIdx="1" presStyleCnt="3">
        <dgm:presLayoutVars>
          <dgm:bulletEnabled val="1"/>
        </dgm:presLayoutVars>
      </dgm:prSet>
      <dgm:spPr/>
    </dgm:pt>
    <dgm:pt modelId="{289B5FEA-7938-491D-A0D2-BB78BA3AD98D}" type="pres">
      <dgm:prSet presAssocID="{3540B853-6FE8-4B74-A1C6-228A24991460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025887CD-DF56-4A69-8C61-34E4C8762594}" type="pres">
      <dgm:prSet presAssocID="{3540B853-6FE8-4B74-A1C6-228A2499146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53F1714-C93D-4B5D-9D57-394D5826EF20}" srcId="{2F15EEB0-C91D-47C6-B519-A51E0D087997}" destId="{D92803CE-53A5-4D2D-A8FF-C4416E93E6B1}" srcOrd="3" destOrd="0" parTransId="{2895FB32-1099-4C4D-A5AD-937562F76772}" sibTransId="{4340ED5C-E3A8-4319-8987-66083C25BBAF}"/>
    <dgm:cxn modelId="{B3E44414-65DF-4B77-BD5B-7F483DBF97FD}" srcId="{EF26FD06-5B0F-4AF7-93F1-BC005BF2D0BA}" destId="{B26FC256-6D61-4BA9-AB20-807C460D3534}" srcOrd="0" destOrd="0" parTransId="{00D05766-29EA-4FF6-AC07-5F4005627CF6}" sibTransId="{C437F16B-1972-4523-9420-9507D367F2A9}"/>
    <dgm:cxn modelId="{A436A320-A8AB-4455-9BF2-FDC54ED2094F}" srcId="{EF26FD06-5B0F-4AF7-93F1-BC005BF2D0BA}" destId="{960F9145-B95A-4E3C-851C-4C3D6000ADF5}" srcOrd="4" destOrd="0" parTransId="{8405D677-4F34-444F-A0D1-5BCECA79FC43}" sibTransId="{67AF2F64-6652-44F6-9A8D-C8CA710E99FC}"/>
    <dgm:cxn modelId="{A198AB26-947C-4E53-A954-5558590E52B4}" srcId="{2F15EEB0-C91D-47C6-B519-A51E0D087997}" destId="{89D0E240-CB6F-4B5C-9E03-7557F07309F5}" srcOrd="0" destOrd="0" parTransId="{CA133CF3-6F00-4196-ABEF-149B01F34CA8}" sibTransId="{E66A3C4F-779E-46BA-9AD9-E347FDBF5C69}"/>
    <dgm:cxn modelId="{E5162329-A675-4DB2-A9C3-1A2AE6840BD5}" type="presOf" srcId="{3BD1FF98-E974-4B6B-8809-0A67BA9EAF18}" destId="{1E3636FD-C2DF-40B9-A575-D43F37E81DF2}" srcOrd="0" destOrd="5" presId="urn:microsoft.com/office/officeart/2005/8/layout/vList2"/>
    <dgm:cxn modelId="{D3A25D2B-3404-4E34-BF8E-90CF6F962134}" srcId="{3540B853-6FE8-4B74-A1C6-228A24991460}" destId="{F97D5B7A-A1CB-4738-98C4-AADBF599D15B}" srcOrd="2" destOrd="0" parTransId="{BE56EB9B-3837-46A9-A804-7BCD93F76262}" sibTransId="{F2D977E2-40E9-47AE-8A67-C9F1D1B42C58}"/>
    <dgm:cxn modelId="{3E36C232-1724-4820-8970-CB9A25A619F9}" type="presOf" srcId="{960F9145-B95A-4E3C-851C-4C3D6000ADF5}" destId="{1E3636FD-C2DF-40B9-A575-D43F37E81DF2}" srcOrd="0" destOrd="4" presId="urn:microsoft.com/office/officeart/2005/8/layout/vList2"/>
    <dgm:cxn modelId="{42831D3D-A45C-45B1-93EA-331F848C1E2A}" srcId="{EF26FD06-5B0F-4AF7-93F1-BC005BF2D0BA}" destId="{3BD1FF98-E974-4B6B-8809-0A67BA9EAF18}" srcOrd="5" destOrd="0" parTransId="{8B81139D-E4D7-423E-83B5-650ADB6EF37E}" sibTransId="{E3704C87-DCC1-4F16-A379-9AFDAFC398DC}"/>
    <dgm:cxn modelId="{BDED6740-7D31-4F45-8763-E3F35FA13EC6}" srcId="{2F15EEB0-C91D-47C6-B519-A51E0D087997}" destId="{60E96C41-3544-42A5-92FD-36A42680E89F}" srcOrd="5" destOrd="0" parTransId="{C99BE5DA-560E-43F3-AC7E-31C1FEE60B75}" sibTransId="{B61B4530-CF3A-494C-854D-4F2602D6469C}"/>
    <dgm:cxn modelId="{5D028B5D-16D8-4415-BDBE-EEB103963512}" type="presOf" srcId="{9643A4AC-243B-4493-8B6F-B142D0ABCE93}" destId="{025887CD-DF56-4A69-8C61-34E4C8762594}" srcOrd="0" destOrd="1" presId="urn:microsoft.com/office/officeart/2005/8/layout/vList2"/>
    <dgm:cxn modelId="{50414464-F6D1-405C-8299-5981A4ED81E3}" srcId="{2F15EEB0-C91D-47C6-B519-A51E0D087997}" destId="{EF26FD06-5B0F-4AF7-93F1-BC005BF2D0BA}" srcOrd="4" destOrd="0" parTransId="{C8C8B167-99DB-459B-8809-4829B71920F0}" sibTransId="{101AADAC-E36B-4C6D-8EDD-205F3AB62A20}"/>
    <dgm:cxn modelId="{95FD1846-35CC-48E7-9B7D-FE83F5AC219D}" srcId="{3540B853-6FE8-4B74-A1C6-228A24991460}" destId="{9643A4AC-243B-4493-8B6F-B142D0ABCE93}" srcOrd="1" destOrd="0" parTransId="{DB8BFE88-2F22-4450-A0A1-3C9F89CC7D26}" sibTransId="{DFB76582-1FAA-404E-8934-1532DA54C228}"/>
    <dgm:cxn modelId="{2ECF014E-C55F-4A7B-BBB6-1E106A96851F}" type="presOf" srcId="{93CA1952-DD94-4939-A94E-D6B5DF3576DA}" destId="{1E3636FD-C2DF-40B9-A575-D43F37E81DF2}" srcOrd="0" destOrd="1" presId="urn:microsoft.com/office/officeart/2005/8/layout/vList2"/>
    <dgm:cxn modelId="{F9CDCE75-D3A5-4E4F-A45E-64A255790A2C}" type="presOf" srcId="{EF26FD06-5B0F-4AF7-93F1-BC005BF2D0BA}" destId="{E87A3C4A-4372-4476-B5BA-7AFCD2A044CC}" srcOrd="0" destOrd="0" presId="urn:microsoft.com/office/officeart/2005/8/layout/vList2"/>
    <dgm:cxn modelId="{5CF33258-7E87-44F5-87C8-99CED0B322E4}" type="presOf" srcId="{F97D5B7A-A1CB-4738-98C4-AADBF599D15B}" destId="{025887CD-DF56-4A69-8C61-34E4C8762594}" srcOrd="0" destOrd="2" presId="urn:microsoft.com/office/officeart/2005/8/layout/vList2"/>
    <dgm:cxn modelId="{7198F98E-6D8F-4903-A853-E8973E3A422F}" type="presOf" srcId="{D5EAEBC0-0FDB-4B80-BF86-C2CDFD081B3F}" destId="{025887CD-DF56-4A69-8C61-34E4C8762594}" srcOrd="0" destOrd="0" presId="urn:microsoft.com/office/officeart/2005/8/layout/vList2"/>
    <dgm:cxn modelId="{D474739A-74B6-432F-B70B-BA077CA9C504}" srcId="{EF26FD06-5B0F-4AF7-93F1-BC005BF2D0BA}" destId="{93CA1952-DD94-4939-A94E-D6B5DF3576DA}" srcOrd="1" destOrd="0" parTransId="{A003F323-A758-4B21-9F98-C49579415D4F}" sibTransId="{8C60AA8A-D1E9-47C8-BE4A-01460942BCE7}"/>
    <dgm:cxn modelId="{4BCB2F9C-FCDD-4474-9EF2-2197FE212619}" type="presOf" srcId="{F168685D-1470-4625-B499-E03FF006F585}" destId="{1E3636FD-C2DF-40B9-A575-D43F37E81DF2}" srcOrd="0" destOrd="2" presId="urn:microsoft.com/office/officeart/2005/8/layout/vList2"/>
    <dgm:cxn modelId="{6E919B9F-DEE5-4EC9-BA1B-12A450DC4C4D}" type="presOf" srcId="{B26FC256-6D61-4BA9-AB20-807C460D3534}" destId="{1E3636FD-C2DF-40B9-A575-D43F37E81DF2}" srcOrd="0" destOrd="0" presId="urn:microsoft.com/office/officeart/2005/8/layout/vList2"/>
    <dgm:cxn modelId="{3D3C7FA4-337B-4D85-A5C3-737165CF00A8}" type="presOf" srcId="{89D0E240-CB6F-4B5C-9E03-7557F07309F5}" destId="{5294AF61-5ECF-4C5E-86D5-ACDA4E59F54D}" srcOrd="0" destOrd="0" presId="urn:microsoft.com/office/officeart/2005/8/layout/vList2"/>
    <dgm:cxn modelId="{3B3190AB-DCD1-4C6C-A313-2146CD299450}" type="presOf" srcId="{9215350D-6B67-4DE6-95E9-B888C32DFD1F}" destId="{FD99EBD2-8C07-42C2-A1D3-BA5019494C9B}" srcOrd="0" destOrd="0" presId="urn:microsoft.com/office/officeart/2005/8/layout/vList2"/>
    <dgm:cxn modelId="{27E91ABD-26F4-4A29-B974-EE26AE841F92}" type="presOf" srcId="{60E96C41-3544-42A5-92FD-36A42680E89F}" destId="{2BB88372-80AA-4607-B163-A8A9E63578A6}" srcOrd="0" destOrd="0" presId="urn:microsoft.com/office/officeart/2005/8/layout/vList2"/>
    <dgm:cxn modelId="{F011FFC4-DCF3-4018-8FC4-4157710A72C8}" srcId="{2F15EEB0-C91D-47C6-B519-A51E0D087997}" destId="{3540B853-6FE8-4B74-A1C6-228A24991460}" srcOrd="6" destOrd="0" parTransId="{C65CB36F-4540-4DEB-B717-897E08CD0425}" sibTransId="{98295C8C-8976-465F-B6B4-CDA9715995C0}"/>
    <dgm:cxn modelId="{9FEE81C6-AAA1-48B4-B6AC-8AF3D8F42B05}" type="presOf" srcId="{2F15EEB0-C91D-47C6-B519-A51E0D087997}" destId="{EEF1EB77-6977-472F-B358-BCCE794993DE}" srcOrd="0" destOrd="0" presId="urn:microsoft.com/office/officeart/2005/8/layout/vList2"/>
    <dgm:cxn modelId="{D41175C8-3A35-4174-8955-07EF8349CD5A}" type="presOf" srcId="{55398975-F71F-47C8-86B5-EFC2F2F52C9A}" destId="{296ABDFD-2342-4696-ACB9-38E481CB551D}" srcOrd="0" destOrd="0" presId="urn:microsoft.com/office/officeart/2005/8/layout/vList2"/>
    <dgm:cxn modelId="{C39178C8-B9ED-409E-A55B-7C9164DCDAD5}" type="presOf" srcId="{DEE5AD7C-0795-48C5-A543-87672AB3D138}" destId="{DFF0BF56-9297-467E-943E-FED81C6478C6}" srcOrd="0" destOrd="0" presId="urn:microsoft.com/office/officeart/2005/8/layout/vList2"/>
    <dgm:cxn modelId="{6C9977CA-1DCC-4D7A-A04F-2B8C9F818A25}" srcId="{EF26FD06-5B0F-4AF7-93F1-BC005BF2D0BA}" destId="{E468AB92-C398-43B3-B855-56C6848E663C}" srcOrd="3" destOrd="0" parTransId="{25264304-60C7-4FCA-926F-8597D5DFE052}" sibTransId="{513ABBAB-9EF6-4E6C-B1CF-B7603009C0C6}"/>
    <dgm:cxn modelId="{2B0B8BCA-3B4A-4BC4-A9FC-7EBC0E3749E6}" srcId="{2F15EEB0-C91D-47C6-B519-A51E0D087997}" destId="{9215350D-6B67-4DE6-95E9-B888C32DFD1F}" srcOrd="2" destOrd="0" parTransId="{FB2C229D-9C78-4783-B9DC-066C48F778DB}" sibTransId="{6055A9BE-6997-4A65-8F35-82EED8A08121}"/>
    <dgm:cxn modelId="{C4FE1ACC-8579-483E-9D4D-73454E6995D3}" srcId="{60E96C41-3544-42A5-92FD-36A42680E89F}" destId="{DEE5AD7C-0795-48C5-A543-87672AB3D138}" srcOrd="0" destOrd="0" parTransId="{81EEFB05-04DF-4FD7-9CE9-2E77FC7DFAD5}" sibTransId="{AEB4D38A-2062-4324-BB6A-64C8C31EAA7C}"/>
    <dgm:cxn modelId="{4A375ED3-2253-489C-8BBF-47DABC4C920F}" srcId="{EF26FD06-5B0F-4AF7-93F1-BC005BF2D0BA}" destId="{F168685D-1470-4625-B499-E03FF006F585}" srcOrd="2" destOrd="0" parTransId="{52C8532F-0C30-46A8-B8CF-84456482992F}" sibTransId="{A7BA4D8E-BA20-474C-89E9-43A6936D3487}"/>
    <dgm:cxn modelId="{902AA4DC-FC56-4858-B5C0-EF966D75ECE6}" srcId="{2F15EEB0-C91D-47C6-B519-A51E0D087997}" destId="{55398975-F71F-47C8-86B5-EFC2F2F52C9A}" srcOrd="1" destOrd="0" parTransId="{62A3872E-84D3-44E1-B3FA-28B061BB35FB}" sibTransId="{C19B9FB8-0BE0-4E95-BDD8-DB3A4B7547C8}"/>
    <dgm:cxn modelId="{AD1D38E3-0A57-40C6-98CB-E8B476DA778B}" type="presOf" srcId="{D92803CE-53A5-4D2D-A8FF-C4416E93E6B1}" destId="{2EC93D9A-A5AD-4D55-AAC2-982919DF61A8}" srcOrd="0" destOrd="0" presId="urn:microsoft.com/office/officeart/2005/8/layout/vList2"/>
    <dgm:cxn modelId="{7F7720EB-103C-4A10-AA55-E48563D719A8}" type="presOf" srcId="{3540B853-6FE8-4B74-A1C6-228A24991460}" destId="{289B5FEA-7938-491D-A0D2-BB78BA3AD98D}" srcOrd="0" destOrd="0" presId="urn:microsoft.com/office/officeart/2005/8/layout/vList2"/>
    <dgm:cxn modelId="{8836FBFA-8E48-4D05-92D2-28176C0A1A21}" srcId="{3540B853-6FE8-4B74-A1C6-228A24991460}" destId="{D5EAEBC0-0FDB-4B80-BF86-C2CDFD081B3F}" srcOrd="0" destOrd="0" parTransId="{70B1A95E-4259-49BD-9E64-EEA7E5A06AB4}" sibTransId="{228F6CA3-28FE-4E4C-A155-4FE9C0C981EC}"/>
    <dgm:cxn modelId="{5B3EF1FB-4D46-4119-A812-5AE3052AEE9B}" type="presOf" srcId="{E468AB92-C398-43B3-B855-56C6848E663C}" destId="{1E3636FD-C2DF-40B9-A575-D43F37E81DF2}" srcOrd="0" destOrd="3" presId="urn:microsoft.com/office/officeart/2005/8/layout/vList2"/>
    <dgm:cxn modelId="{190BEF71-D5DA-4F0A-B881-F9DF7665FD03}" type="presParOf" srcId="{EEF1EB77-6977-472F-B358-BCCE794993DE}" destId="{5294AF61-5ECF-4C5E-86D5-ACDA4E59F54D}" srcOrd="0" destOrd="0" presId="urn:microsoft.com/office/officeart/2005/8/layout/vList2"/>
    <dgm:cxn modelId="{4C7AE78D-63DF-4BC5-B592-F267895336A7}" type="presParOf" srcId="{EEF1EB77-6977-472F-B358-BCCE794993DE}" destId="{D80592B6-57A1-46BF-AB26-001C83548E8D}" srcOrd="1" destOrd="0" presId="urn:microsoft.com/office/officeart/2005/8/layout/vList2"/>
    <dgm:cxn modelId="{25EF8E31-92C3-4E15-B43B-A80726E68B14}" type="presParOf" srcId="{EEF1EB77-6977-472F-B358-BCCE794993DE}" destId="{296ABDFD-2342-4696-ACB9-38E481CB551D}" srcOrd="2" destOrd="0" presId="urn:microsoft.com/office/officeart/2005/8/layout/vList2"/>
    <dgm:cxn modelId="{CC6C5BA2-5CB5-4CC8-A0B6-A9B64AEBC60A}" type="presParOf" srcId="{EEF1EB77-6977-472F-B358-BCCE794993DE}" destId="{B702F63E-C613-4DBB-907E-DD5E9A13AB49}" srcOrd="3" destOrd="0" presId="urn:microsoft.com/office/officeart/2005/8/layout/vList2"/>
    <dgm:cxn modelId="{E2EF4466-8CF2-440C-AECA-EEC2BB22C866}" type="presParOf" srcId="{EEF1EB77-6977-472F-B358-BCCE794993DE}" destId="{FD99EBD2-8C07-42C2-A1D3-BA5019494C9B}" srcOrd="4" destOrd="0" presId="urn:microsoft.com/office/officeart/2005/8/layout/vList2"/>
    <dgm:cxn modelId="{347006C7-AF1F-4EFF-882D-4B37DE69926B}" type="presParOf" srcId="{EEF1EB77-6977-472F-B358-BCCE794993DE}" destId="{2B5B9D5E-FD24-4EC7-A8DC-B24199B22528}" srcOrd="5" destOrd="0" presId="urn:microsoft.com/office/officeart/2005/8/layout/vList2"/>
    <dgm:cxn modelId="{BF9010B0-CDCB-4DF9-B54E-00B3E05F7002}" type="presParOf" srcId="{EEF1EB77-6977-472F-B358-BCCE794993DE}" destId="{2EC93D9A-A5AD-4D55-AAC2-982919DF61A8}" srcOrd="6" destOrd="0" presId="urn:microsoft.com/office/officeart/2005/8/layout/vList2"/>
    <dgm:cxn modelId="{9160D383-1CE9-4180-809A-D62B474F7F61}" type="presParOf" srcId="{EEF1EB77-6977-472F-B358-BCCE794993DE}" destId="{2A6E2513-8487-41D9-8E5C-F18AE038FEDF}" srcOrd="7" destOrd="0" presId="urn:microsoft.com/office/officeart/2005/8/layout/vList2"/>
    <dgm:cxn modelId="{A8D50F01-4076-4D1D-98B5-82E20EE404E8}" type="presParOf" srcId="{EEF1EB77-6977-472F-B358-BCCE794993DE}" destId="{E87A3C4A-4372-4476-B5BA-7AFCD2A044CC}" srcOrd="8" destOrd="0" presId="urn:microsoft.com/office/officeart/2005/8/layout/vList2"/>
    <dgm:cxn modelId="{AD023F7E-E7D7-47DA-9591-85E266B32081}" type="presParOf" srcId="{EEF1EB77-6977-472F-B358-BCCE794993DE}" destId="{1E3636FD-C2DF-40B9-A575-D43F37E81DF2}" srcOrd="9" destOrd="0" presId="urn:microsoft.com/office/officeart/2005/8/layout/vList2"/>
    <dgm:cxn modelId="{AC552A97-738A-40AA-9778-298B1B858A83}" type="presParOf" srcId="{EEF1EB77-6977-472F-B358-BCCE794993DE}" destId="{2BB88372-80AA-4607-B163-A8A9E63578A6}" srcOrd="10" destOrd="0" presId="urn:microsoft.com/office/officeart/2005/8/layout/vList2"/>
    <dgm:cxn modelId="{7E5C3F52-DF30-42D7-B627-501A3CE5A585}" type="presParOf" srcId="{EEF1EB77-6977-472F-B358-BCCE794993DE}" destId="{DFF0BF56-9297-467E-943E-FED81C6478C6}" srcOrd="11" destOrd="0" presId="urn:microsoft.com/office/officeart/2005/8/layout/vList2"/>
    <dgm:cxn modelId="{260B11A9-3EFE-4A0C-B541-8D725C9A9281}" type="presParOf" srcId="{EEF1EB77-6977-472F-B358-BCCE794993DE}" destId="{289B5FEA-7938-491D-A0D2-BB78BA3AD98D}" srcOrd="12" destOrd="0" presId="urn:microsoft.com/office/officeart/2005/8/layout/vList2"/>
    <dgm:cxn modelId="{1449D8CF-7B55-43DD-9556-8EAA57180778}" type="presParOf" srcId="{EEF1EB77-6977-472F-B358-BCCE794993DE}" destId="{025887CD-DF56-4A69-8C61-34E4C8762594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3969B-E810-479D-8766-CC5FA46F42B6}">
      <dsp:nvSpPr>
        <dsp:cNvPr id="0" name=""/>
        <dsp:cNvSpPr/>
      </dsp:nvSpPr>
      <dsp:spPr>
        <a:xfrm>
          <a:off x="0" y="9083"/>
          <a:ext cx="10241280" cy="5031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dobe Garamond Pro" panose="02020502060506020403" pitchFamily="18" charset="0"/>
            </a:rPr>
            <a:t>Aim</a:t>
          </a:r>
        </a:p>
      </dsp:txBody>
      <dsp:txXfrm>
        <a:off x="24559" y="33642"/>
        <a:ext cx="10192162" cy="453982"/>
      </dsp:txXfrm>
    </dsp:sp>
    <dsp:sp modelId="{DD0DA1AD-D6EC-420F-9A31-73B4E520DD0F}">
      <dsp:nvSpPr>
        <dsp:cNvPr id="0" name=""/>
        <dsp:cNvSpPr/>
      </dsp:nvSpPr>
      <dsp:spPr>
        <a:xfrm>
          <a:off x="0" y="512183"/>
          <a:ext cx="10241280" cy="331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161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Adobe Garamond Pro" panose="02020502060506020403" pitchFamily="18" charset="0"/>
            </a:rPr>
            <a:t>To identify demographic, clinical, and geographic disparities in HbA1c and diabetes burden among U.S. blood donors.</a:t>
          </a:r>
        </a:p>
      </dsp:txBody>
      <dsp:txXfrm>
        <a:off x="0" y="512183"/>
        <a:ext cx="10241280" cy="331200"/>
      </dsp:txXfrm>
    </dsp:sp>
    <dsp:sp modelId="{5D814B5D-4062-4123-B83B-9C59788A5419}">
      <dsp:nvSpPr>
        <dsp:cNvPr id="0" name=""/>
        <dsp:cNvSpPr/>
      </dsp:nvSpPr>
      <dsp:spPr>
        <a:xfrm>
          <a:off x="0" y="843383"/>
          <a:ext cx="10241280" cy="5031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dobe Garamond Pro" panose="02020502060506020403" pitchFamily="18" charset="0"/>
            </a:rPr>
            <a:t>Hypothesis</a:t>
          </a:r>
        </a:p>
      </dsp:txBody>
      <dsp:txXfrm>
        <a:off x="24559" y="867942"/>
        <a:ext cx="10192162" cy="453982"/>
      </dsp:txXfrm>
    </dsp:sp>
    <dsp:sp modelId="{70131ADA-0E1E-4609-8A29-4E4CCF493941}">
      <dsp:nvSpPr>
        <dsp:cNvPr id="0" name=""/>
        <dsp:cNvSpPr/>
      </dsp:nvSpPr>
      <dsp:spPr>
        <a:xfrm>
          <a:off x="0" y="1346483"/>
          <a:ext cx="10241280" cy="52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161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Adobe Garamond Pro" panose="02020502060506020403" pitchFamily="18" charset="0"/>
            </a:rPr>
            <a:t>HbA1c and diabetes burden vary across donor subgroups and counties, with higher levels concentrated in specific demographic and medical-risk groups and in geographic clusters.</a:t>
          </a:r>
        </a:p>
      </dsp:txBody>
      <dsp:txXfrm>
        <a:off x="0" y="1346483"/>
        <a:ext cx="10241280" cy="5278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48174-1761-4F92-A532-D6996C60A233}">
      <dsp:nvSpPr>
        <dsp:cNvPr id="0" name=""/>
        <dsp:cNvSpPr/>
      </dsp:nvSpPr>
      <dsp:spPr>
        <a:xfrm>
          <a:off x="0" y="16515"/>
          <a:ext cx="6768752" cy="7915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dobe Garamond Pro" panose="02020502060506020403" pitchFamily="18" charset="0"/>
            </a:rPr>
            <a:t>Analytic cohort: 403,371 unique donors.</a:t>
          </a:r>
        </a:p>
      </dsp:txBody>
      <dsp:txXfrm>
        <a:off x="38643" y="55158"/>
        <a:ext cx="6691466" cy="714310"/>
      </dsp:txXfrm>
    </dsp:sp>
    <dsp:sp modelId="{CB2D7AAE-6234-4E7F-8E68-7112696A3F39}">
      <dsp:nvSpPr>
        <dsp:cNvPr id="0" name=""/>
        <dsp:cNvSpPr/>
      </dsp:nvSpPr>
      <dsp:spPr>
        <a:xfrm>
          <a:off x="0" y="862831"/>
          <a:ext cx="6768752" cy="7915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dobe Garamond Pro" panose="02020502060506020403" pitchFamily="18" charset="0"/>
            </a:rPr>
            <a:t>Median age was 54 years; 48.0% were female and 14% were first-time donors.</a:t>
          </a:r>
        </a:p>
      </dsp:txBody>
      <dsp:txXfrm>
        <a:off x="38643" y="901474"/>
        <a:ext cx="6691466" cy="714310"/>
      </dsp:txXfrm>
    </dsp:sp>
    <dsp:sp modelId="{FF61924C-307D-4C83-AB7C-A6C596D255C0}">
      <dsp:nvSpPr>
        <dsp:cNvPr id="0" name=""/>
        <dsp:cNvSpPr/>
      </dsp:nvSpPr>
      <dsp:spPr>
        <a:xfrm>
          <a:off x="0" y="1709148"/>
          <a:ext cx="6768752" cy="7915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dobe Garamond Pro" panose="02020502060506020403" pitchFamily="18" charset="0"/>
            </a:rPr>
            <a:t>Overall glycemic distribution was 77.8% normal, 17.3% prediabetes, and 4.9% diabetes.</a:t>
          </a:r>
        </a:p>
      </dsp:txBody>
      <dsp:txXfrm>
        <a:off x="38643" y="1747791"/>
        <a:ext cx="6691466" cy="714310"/>
      </dsp:txXfrm>
    </dsp:sp>
    <dsp:sp modelId="{2ECBB374-63BC-4B51-9154-ECE6F50569E0}">
      <dsp:nvSpPr>
        <dsp:cNvPr id="0" name=""/>
        <dsp:cNvSpPr/>
      </dsp:nvSpPr>
      <dsp:spPr>
        <a:xfrm>
          <a:off x="0" y="2555464"/>
          <a:ext cx="6768752" cy="7915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dobe Garamond Pro" panose="02020502060506020403" pitchFamily="18" charset="0"/>
            </a:rPr>
            <a:t>This descriptive table establishes the cohort context for subsequent subgroup and spatial comparisons.</a:t>
          </a:r>
        </a:p>
      </dsp:txBody>
      <dsp:txXfrm>
        <a:off x="38643" y="2594107"/>
        <a:ext cx="6691466" cy="714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9D425-B50F-4283-9FD0-989D0F616C5B}">
      <dsp:nvSpPr>
        <dsp:cNvPr id="0" name=""/>
        <dsp:cNvSpPr/>
      </dsp:nvSpPr>
      <dsp:spPr>
        <a:xfrm>
          <a:off x="0" y="13095"/>
          <a:ext cx="6264695" cy="767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These variables were combined later into a binary indicator of any medical history versus none.</a:t>
          </a:r>
        </a:p>
      </dsp:txBody>
      <dsp:txXfrm>
        <a:off x="37467" y="50562"/>
        <a:ext cx="6189761" cy="692586"/>
      </dsp:txXfrm>
    </dsp:sp>
    <dsp:sp modelId="{124CCBB6-B237-49C3-918F-08E700A4AC64}">
      <dsp:nvSpPr>
        <dsp:cNvPr id="0" name=""/>
        <dsp:cNvSpPr/>
      </dsp:nvSpPr>
      <dsp:spPr>
        <a:xfrm>
          <a:off x="0" y="898696"/>
          <a:ext cx="6264695" cy="767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That grouping was used to test whether HbA1c is systematically shifted upward among donors with a flagged medical history profile.</a:t>
          </a:r>
        </a:p>
      </dsp:txBody>
      <dsp:txXfrm>
        <a:off x="37467" y="936163"/>
        <a:ext cx="6189761" cy="6925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200AB-FE2D-4378-9180-57648AF363C9}">
      <dsp:nvSpPr>
        <dsp:cNvPr id="0" name=""/>
        <dsp:cNvSpPr/>
      </dsp:nvSpPr>
      <dsp:spPr>
        <a:xfrm>
          <a:off x="0" y="790"/>
          <a:ext cx="4608512" cy="917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dobe Garamond Pro" panose="02020502060506020403" pitchFamily="18" charset="0"/>
            </a:rPr>
            <a:t>Race/ethnicity composition differed significantly across age-by-sex strata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dobe Garamond Pro" panose="02020502060506020403" pitchFamily="18" charset="0"/>
            </a:rPr>
            <a:t>(Pearson chi-squared X^2 = 24,454, p &lt; 0.001).</a:t>
          </a:r>
        </a:p>
      </dsp:txBody>
      <dsp:txXfrm>
        <a:off x="44778" y="45568"/>
        <a:ext cx="4518956" cy="827724"/>
      </dsp:txXfrm>
    </dsp:sp>
    <dsp:sp modelId="{A8BA9D68-D57D-4CF1-B3C8-E06D0C458164}">
      <dsp:nvSpPr>
        <dsp:cNvPr id="0" name=""/>
        <dsp:cNvSpPr/>
      </dsp:nvSpPr>
      <dsp:spPr>
        <a:xfrm>
          <a:off x="0" y="1059190"/>
          <a:ext cx="4608512" cy="917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Among men, the proportion of White donors increased from 67.7% in donors younger than 29 years to 92.1% in donors aged 55 years or older.</a:t>
          </a:r>
        </a:p>
      </dsp:txBody>
      <dsp:txXfrm>
        <a:off x="44778" y="1103968"/>
        <a:ext cx="4518956" cy="827724"/>
      </dsp:txXfrm>
    </dsp:sp>
    <dsp:sp modelId="{79A5252D-593C-4CE4-9DDD-8AAC78D32DA9}">
      <dsp:nvSpPr>
        <dsp:cNvPr id="0" name=""/>
        <dsp:cNvSpPr/>
      </dsp:nvSpPr>
      <dsp:spPr>
        <a:xfrm>
          <a:off x="0" y="2117590"/>
          <a:ext cx="4608512" cy="917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dobe Garamond Pro" panose="02020502060506020403" pitchFamily="18" charset="0"/>
            </a:rPr>
            <a:t>These denominator differences indicate that apparent HbA1c disparities may partly reflect how heavily each demographic stratum is represented in the screened donor pool.</a:t>
          </a:r>
        </a:p>
      </dsp:txBody>
      <dsp:txXfrm>
        <a:off x="44778" y="2162368"/>
        <a:ext cx="4518956" cy="8277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F62A3-2C8D-442A-8A11-7C83535C391C}">
      <dsp:nvSpPr>
        <dsp:cNvPr id="0" name=""/>
        <dsp:cNvSpPr/>
      </dsp:nvSpPr>
      <dsp:spPr>
        <a:xfrm>
          <a:off x="0" y="7136"/>
          <a:ext cx="4824536" cy="1029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Glycemic status differed significantly across age-by-sex strata (Pearson chi-squared X^2 = 45,552, p &lt; 0.001).</a:t>
          </a:r>
        </a:p>
      </dsp:txBody>
      <dsp:txXfrm>
        <a:off x="50261" y="57397"/>
        <a:ext cx="4724014" cy="929078"/>
      </dsp:txXfrm>
    </dsp:sp>
    <dsp:sp modelId="{3D9B0776-7892-4517-864F-FC02D157EF57}">
      <dsp:nvSpPr>
        <dsp:cNvPr id="0" name=""/>
        <dsp:cNvSpPr/>
      </dsp:nvSpPr>
      <dsp:spPr>
        <a:xfrm>
          <a:off x="0" y="1195136"/>
          <a:ext cx="4824536" cy="1029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Diabetes prevalence increased from 0.5% in women younger than 29 years and 0.6% in men younger than 29 years to 4.8% and 10.7%, respectively, among donors aged 55 years or older.</a:t>
          </a:r>
        </a:p>
      </dsp:txBody>
      <dsp:txXfrm>
        <a:off x="50261" y="1245397"/>
        <a:ext cx="4724014" cy="929078"/>
      </dsp:txXfrm>
    </dsp:sp>
    <dsp:sp modelId="{806357A0-2434-48F0-93B5-150F9E3814E1}">
      <dsp:nvSpPr>
        <dsp:cNvPr id="0" name=""/>
        <dsp:cNvSpPr/>
      </dsp:nvSpPr>
      <dsp:spPr>
        <a:xfrm>
          <a:off x="0" y="2383136"/>
          <a:ext cx="4824536" cy="1029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Older men carried the highest burden of dysglycemia, with both prediabetes and diabetes proportions notably elevated relative to younger donor groups.</a:t>
          </a:r>
        </a:p>
      </dsp:txBody>
      <dsp:txXfrm>
        <a:off x="50261" y="2433397"/>
        <a:ext cx="4724014" cy="9290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4DDAC-9714-4DB6-BF1E-CEA592CB6A8C}">
      <dsp:nvSpPr>
        <dsp:cNvPr id="0" name=""/>
        <dsp:cNvSpPr/>
      </dsp:nvSpPr>
      <dsp:spPr>
        <a:xfrm>
          <a:off x="0" y="10535"/>
          <a:ext cx="7631494" cy="580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dobe Garamond Pro" panose="02020502060506020403" pitchFamily="18" charset="0"/>
            </a:rPr>
            <a:t>The highest combined prediabetes plus diabetes burden was observed in men aged 55 years or older: 40.5%.</a:t>
          </a:r>
        </a:p>
      </dsp:txBody>
      <dsp:txXfrm>
        <a:off x="28329" y="38864"/>
        <a:ext cx="7574836" cy="523662"/>
      </dsp:txXfrm>
    </dsp:sp>
    <dsp:sp modelId="{20FAE770-1330-479C-821D-50E33391C4B5}">
      <dsp:nvSpPr>
        <dsp:cNvPr id="0" name=""/>
        <dsp:cNvSpPr/>
      </dsp:nvSpPr>
      <dsp:spPr>
        <a:xfrm>
          <a:off x="0" y="680136"/>
          <a:ext cx="7631494" cy="580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For comparison, women younger than 29 years had a combined dysglycemia burden of only 2.9%.</a:t>
          </a:r>
        </a:p>
      </dsp:txBody>
      <dsp:txXfrm>
        <a:off x="28329" y="708465"/>
        <a:ext cx="7574836" cy="5236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F23D4-B13B-440E-BE70-F40F7FEB6B4F}">
      <dsp:nvSpPr>
        <dsp:cNvPr id="0" name=""/>
        <dsp:cNvSpPr/>
      </dsp:nvSpPr>
      <dsp:spPr>
        <a:xfrm>
          <a:off x="0" y="11163"/>
          <a:ext cx="4104456" cy="8035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HbA1c distributions differed significantly across age groups (Kruskal-Wallis chi-squared = 75,592, p &lt; 0.001).</a:t>
          </a:r>
        </a:p>
      </dsp:txBody>
      <dsp:txXfrm>
        <a:off x="39227" y="50390"/>
        <a:ext cx="4026002" cy="725116"/>
      </dsp:txXfrm>
    </dsp:sp>
    <dsp:sp modelId="{19174D1A-65F7-4304-8384-767B2564305D}">
      <dsp:nvSpPr>
        <dsp:cNvPr id="0" name=""/>
        <dsp:cNvSpPr/>
      </dsp:nvSpPr>
      <dsp:spPr>
        <a:xfrm>
          <a:off x="0" y="892494"/>
          <a:ext cx="4104456" cy="8035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Median HbA1c increased from 5.1% in donors younger than 29 years to 5.3% in donors aged 30-54 years and 5.5% in donors aged 55 years or older.</a:t>
          </a:r>
        </a:p>
      </dsp:txBody>
      <dsp:txXfrm>
        <a:off x="39227" y="931721"/>
        <a:ext cx="4026002" cy="725116"/>
      </dsp:txXfrm>
    </dsp:sp>
    <dsp:sp modelId="{487686F6-C6B0-4CF0-B9C7-76DA07F2B239}">
      <dsp:nvSpPr>
        <dsp:cNvPr id="0" name=""/>
        <dsp:cNvSpPr/>
      </dsp:nvSpPr>
      <dsp:spPr>
        <a:xfrm>
          <a:off x="0" y="1773824"/>
          <a:ext cx="4104456" cy="8035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The rightward shift of the full distribution suggests that the age effect is broad-based and not driven only by a small number of highly elevated observations.</a:t>
          </a:r>
        </a:p>
      </dsp:txBody>
      <dsp:txXfrm>
        <a:off x="39227" y="1813051"/>
        <a:ext cx="4026002" cy="7251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01B9BD-4860-44E7-9EB5-C48B2A257FE0}">
      <dsp:nvSpPr>
        <dsp:cNvPr id="0" name=""/>
        <dsp:cNvSpPr/>
      </dsp:nvSpPr>
      <dsp:spPr>
        <a:xfrm>
          <a:off x="0" y="1311"/>
          <a:ext cx="4104456" cy="9981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HbA1c distributions differed significantly across race/ethnicity groups (Kruskal-Wallis chi-squared = 1,626.3, p &lt; 0.001).</a:t>
          </a:r>
        </a:p>
      </dsp:txBody>
      <dsp:txXfrm>
        <a:off x="48724" y="50035"/>
        <a:ext cx="4007008" cy="900658"/>
      </dsp:txXfrm>
    </dsp:sp>
    <dsp:sp modelId="{F4BC3392-CBA7-4C05-A75A-921D6FBB8463}">
      <dsp:nvSpPr>
        <dsp:cNvPr id="0" name=""/>
        <dsp:cNvSpPr/>
      </dsp:nvSpPr>
      <dsp:spPr>
        <a:xfrm>
          <a:off x="0" y="1013114"/>
          <a:ext cx="4104456" cy="9981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Median HbA1c was highest among Black donors (5.5%), followed by Asian/other donors (5.4%), and lower in Hispanic Origin and White donors (both 5.3%).</a:t>
          </a:r>
        </a:p>
      </dsp:txBody>
      <dsp:txXfrm>
        <a:off x="48724" y="1061838"/>
        <a:ext cx="4007008" cy="900658"/>
      </dsp:txXfrm>
    </dsp:sp>
    <dsp:sp modelId="{60CADF35-1D1B-4B25-88A9-D633B65AD4AE}">
      <dsp:nvSpPr>
        <dsp:cNvPr id="0" name=""/>
        <dsp:cNvSpPr/>
      </dsp:nvSpPr>
      <dsp:spPr>
        <a:xfrm>
          <a:off x="0" y="2024918"/>
          <a:ext cx="4104456" cy="9981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These differences are modest in absolute magnitude but statistically robust because they reflect systematic distributional shifts across a large donor sample.</a:t>
          </a:r>
        </a:p>
      </dsp:txBody>
      <dsp:txXfrm>
        <a:off x="48724" y="2073642"/>
        <a:ext cx="4007008" cy="9006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9F58A-C0CA-487B-B4F2-C06B650AFB11}">
      <dsp:nvSpPr>
        <dsp:cNvPr id="0" name=""/>
        <dsp:cNvSpPr/>
      </dsp:nvSpPr>
      <dsp:spPr>
        <a:xfrm>
          <a:off x="0" y="13447"/>
          <a:ext cx="3840480" cy="102667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Donors with any flagged medical history had significantly higher HbA1c values than those without (Wilcoxon rank-sum, p &lt; 0.001).</a:t>
          </a:r>
        </a:p>
      </dsp:txBody>
      <dsp:txXfrm>
        <a:off x="50118" y="63565"/>
        <a:ext cx="3740244" cy="926438"/>
      </dsp:txXfrm>
    </dsp:sp>
    <dsp:sp modelId="{72E70F71-7AB9-443D-93EB-28C0C96C4048}">
      <dsp:nvSpPr>
        <dsp:cNvPr id="0" name=""/>
        <dsp:cNvSpPr/>
      </dsp:nvSpPr>
      <dsp:spPr>
        <a:xfrm>
          <a:off x="0" y="1169722"/>
          <a:ext cx="3840480" cy="102667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Median HbA1c was 5.5% among donors with any medical history versus 5.3% among donors without.</a:t>
          </a:r>
        </a:p>
      </dsp:txBody>
      <dsp:txXfrm>
        <a:off x="50118" y="1219840"/>
        <a:ext cx="3740244" cy="926438"/>
      </dsp:txXfrm>
    </dsp:sp>
    <dsp:sp modelId="{D6B59A29-E403-426F-837E-706BBE4FFF45}">
      <dsp:nvSpPr>
        <dsp:cNvPr id="0" name=""/>
        <dsp:cNvSpPr/>
      </dsp:nvSpPr>
      <dsp:spPr>
        <a:xfrm>
          <a:off x="0" y="2325997"/>
          <a:ext cx="3840480" cy="102667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dobe Garamond Pro" panose="02020502060506020403" pitchFamily="18" charset="0"/>
            </a:rPr>
            <a:t>The distribution is shifted to the right rather than differing only in the extreme upper tail, supporting a generalized association between medical-history burden and higher glycemic levels.</a:t>
          </a:r>
        </a:p>
      </dsp:txBody>
      <dsp:txXfrm>
        <a:off x="50118" y="2376115"/>
        <a:ext cx="3740244" cy="9264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4AF61-5ECF-4C5E-86D5-ACDA4E59F54D}">
      <dsp:nvSpPr>
        <dsp:cNvPr id="0" name=""/>
        <dsp:cNvSpPr/>
      </dsp:nvSpPr>
      <dsp:spPr>
        <a:xfrm>
          <a:off x="0" y="3098"/>
          <a:ext cx="4464496" cy="4419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Adobe Garamond Pro" panose="02020502060506020403" pitchFamily="18" charset="0"/>
            </a:rPr>
            <a:t>Among 1,593 counties with at least 20 donors, 223 met Gi* significance criteria for a hotspot or coldspot.</a:t>
          </a:r>
        </a:p>
      </dsp:txBody>
      <dsp:txXfrm>
        <a:off x="21577" y="24675"/>
        <a:ext cx="4421342" cy="398843"/>
      </dsp:txXfrm>
    </dsp:sp>
    <dsp:sp modelId="{296ABDFD-2342-4696-ACB9-38E481CB551D}">
      <dsp:nvSpPr>
        <dsp:cNvPr id="0" name=""/>
        <dsp:cNvSpPr/>
      </dsp:nvSpPr>
      <dsp:spPr>
        <a:xfrm>
          <a:off x="0" y="459410"/>
          <a:ext cx="4464496" cy="4419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Adobe Garamond Pro" panose="02020502060506020403" pitchFamily="18" charset="0"/>
            </a:rPr>
            <a:t>This included 139 hotspot counties and 84 coldspot counties; 41 hotspots and 3 coldspots met the 99% significance threshold.</a:t>
          </a:r>
        </a:p>
      </dsp:txBody>
      <dsp:txXfrm>
        <a:off x="21577" y="480987"/>
        <a:ext cx="4421342" cy="398843"/>
      </dsp:txXfrm>
    </dsp:sp>
    <dsp:sp modelId="{FD99EBD2-8C07-42C2-A1D3-BA5019494C9B}">
      <dsp:nvSpPr>
        <dsp:cNvPr id="0" name=""/>
        <dsp:cNvSpPr/>
      </dsp:nvSpPr>
      <dsp:spPr>
        <a:xfrm>
          <a:off x="0" y="915723"/>
          <a:ext cx="4464496" cy="4419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Adobe Garamond Pro" panose="02020502060506020403" pitchFamily="18" charset="0"/>
            </a:rPr>
            <a:t>Hotspot status reflects local spatial clustering rather than a county's raw percentage alone, which is why isolated high-value counties may not be classified as hotspots.</a:t>
          </a:r>
        </a:p>
      </dsp:txBody>
      <dsp:txXfrm>
        <a:off x="21577" y="937300"/>
        <a:ext cx="4421342" cy="398843"/>
      </dsp:txXfrm>
    </dsp:sp>
    <dsp:sp modelId="{2EC93D9A-A5AD-4D55-AAC2-982919DF61A8}">
      <dsp:nvSpPr>
        <dsp:cNvPr id="0" name=""/>
        <dsp:cNvSpPr/>
      </dsp:nvSpPr>
      <dsp:spPr>
        <a:xfrm>
          <a:off x="0" y="1372036"/>
          <a:ext cx="4464496" cy="4419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Adobe Garamond Pro" panose="02020502060506020403" pitchFamily="18" charset="0"/>
            </a:rPr>
            <a:t>The interactive county map is available at this link. </a:t>
          </a:r>
          <a:r>
            <a:rPr lang="en-US" sz="1050" kern="1200" dirty="0">
              <a:latin typeface="Adobe Garamond Pro" panose="02020502060506020403" pitchFamily="18" charset="0"/>
              <a:hlinkClick xmlns:r="http://schemas.openxmlformats.org/officeDocument/2006/relationships" r:id="rId1"/>
            </a:rPr>
            <a:t>https://singhuh.github.io/a1c_march2026/A1c_march_2026</a:t>
          </a:r>
          <a:r>
            <a:rPr lang="en-US" sz="1050" kern="1200" dirty="0">
              <a:latin typeface="Adobe Garamond Pro" panose="02020502060506020403" pitchFamily="18" charset="0"/>
            </a:rPr>
            <a:t> </a:t>
          </a:r>
        </a:p>
      </dsp:txBody>
      <dsp:txXfrm>
        <a:off x="21577" y="1393613"/>
        <a:ext cx="4421342" cy="398843"/>
      </dsp:txXfrm>
    </dsp:sp>
    <dsp:sp modelId="{E87A3C4A-4372-4476-B5BA-7AFCD2A044CC}">
      <dsp:nvSpPr>
        <dsp:cNvPr id="0" name=""/>
        <dsp:cNvSpPr/>
      </dsp:nvSpPr>
      <dsp:spPr>
        <a:xfrm>
          <a:off x="0" y="1828349"/>
          <a:ext cx="4464496" cy="4419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Adobe Garamond Pro" panose="02020502060506020403" pitchFamily="18" charset="0"/>
            </a:rPr>
            <a:t>The hotspot percentages are the statistical confidence level for the hotspot test. </a:t>
          </a:r>
        </a:p>
      </dsp:txBody>
      <dsp:txXfrm>
        <a:off x="21577" y="1849926"/>
        <a:ext cx="4421342" cy="398843"/>
      </dsp:txXfrm>
    </dsp:sp>
    <dsp:sp modelId="{1E3636FD-C2DF-40B9-A575-D43F37E81DF2}">
      <dsp:nvSpPr>
        <dsp:cNvPr id="0" name=""/>
        <dsp:cNvSpPr/>
      </dsp:nvSpPr>
      <dsp:spPr>
        <a:xfrm>
          <a:off x="0" y="2270346"/>
          <a:ext cx="4464496" cy="1214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748" tIns="11430" rIns="64008" bIns="1143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>
              <a:latin typeface="Adobe Garamond Pro" panose="02020502060506020403" pitchFamily="18" charset="0"/>
            </a:rPr>
            <a:t>Hot spot (99%) means the county is part of a cluster of unusually high diabetes percentages, with very strong statistical evidence against random chance.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>
              <a:latin typeface="Adobe Garamond Pro" panose="02020502060506020403" pitchFamily="18" charset="0"/>
            </a:rPr>
            <a:t>Hot spot (90%): weaker but still statistically significant evidence of a high-value cluster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>
              <a:latin typeface="Adobe Garamond Pro" panose="02020502060506020403" pitchFamily="18" charset="0"/>
            </a:rPr>
            <a:t>Hot spot (95%): moderate evidence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>
              <a:latin typeface="Adobe Garamond Pro" panose="02020502060506020403" pitchFamily="18" charset="0"/>
            </a:rPr>
            <a:t>Hot spot (99%): strongest evidence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>
              <a:latin typeface="Adobe Garamond Pro" panose="02020502060506020403" pitchFamily="18" charset="0"/>
            </a:rPr>
            <a:t>Cold spot (90%/95%/99%): the same idea, but for clusters of unusually low diabetes percentages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>
              <a:latin typeface="Adobe Garamond Pro" panose="02020502060506020403" pitchFamily="18" charset="0"/>
            </a:rPr>
            <a:t>Not significant: no statistically detectable local clustering</a:t>
          </a:r>
        </a:p>
      </dsp:txBody>
      <dsp:txXfrm>
        <a:off x="0" y="2270346"/>
        <a:ext cx="4464496" cy="1214149"/>
      </dsp:txXfrm>
    </dsp:sp>
    <dsp:sp modelId="{2BB88372-80AA-4607-B163-A8A9E63578A6}">
      <dsp:nvSpPr>
        <dsp:cNvPr id="0" name=""/>
        <dsp:cNvSpPr/>
      </dsp:nvSpPr>
      <dsp:spPr>
        <a:xfrm>
          <a:off x="0" y="3484495"/>
          <a:ext cx="4464496" cy="4419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Adobe Garamond Pro" panose="02020502060506020403" pitchFamily="18" charset="0"/>
            </a:rPr>
            <a:t>For a county is labeled Hot spot (99%), it means: </a:t>
          </a:r>
        </a:p>
      </dsp:txBody>
      <dsp:txXfrm>
        <a:off x="21577" y="3506072"/>
        <a:ext cx="4421342" cy="398843"/>
      </dsp:txXfrm>
    </dsp:sp>
    <dsp:sp modelId="{DFF0BF56-9297-467E-943E-FED81C6478C6}">
      <dsp:nvSpPr>
        <dsp:cNvPr id="0" name=""/>
        <dsp:cNvSpPr/>
      </dsp:nvSpPr>
      <dsp:spPr>
        <a:xfrm>
          <a:off x="0" y="3926492"/>
          <a:ext cx="4464496" cy="288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748" tIns="11430" rIns="64008" bIns="1143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>
              <a:latin typeface="Adobe Garamond Pro" panose="02020502060506020403" pitchFamily="18" charset="0"/>
            </a:rPr>
            <a:t>the county and its neighboring counties form a high-value cluster that clustering is very unlikely to be due to random variation alone. </a:t>
          </a:r>
        </a:p>
      </dsp:txBody>
      <dsp:txXfrm>
        <a:off x="0" y="3926492"/>
        <a:ext cx="4464496" cy="288103"/>
      </dsp:txXfrm>
    </dsp:sp>
    <dsp:sp modelId="{289B5FEA-7938-491D-A0D2-BB78BA3AD98D}">
      <dsp:nvSpPr>
        <dsp:cNvPr id="0" name=""/>
        <dsp:cNvSpPr/>
      </dsp:nvSpPr>
      <dsp:spPr>
        <a:xfrm>
          <a:off x="0" y="4214596"/>
          <a:ext cx="4464496" cy="4419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>
              <a:latin typeface="Adobe Garamond Pro" panose="02020502060506020403" pitchFamily="18" charset="0"/>
            </a:rPr>
            <a:t>Important distinction (in the interactive map):</a:t>
          </a:r>
        </a:p>
      </dsp:txBody>
      <dsp:txXfrm>
        <a:off x="21577" y="4236173"/>
        <a:ext cx="4421342" cy="398843"/>
      </dsp:txXfrm>
    </dsp:sp>
    <dsp:sp modelId="{025887CD-DF56-4A69-8C61-34E4C8762594}">
      <dsp:nvSpPr>
        <dsp:cNvPr id="0" name=""/>
        <dsp:cNvSpPr/>
      </dsp:nvSpPr>
      <dsp:spPr>
        <a:xfrm>
          <a:off x="0" y="4656593"/>
          <a:ext cx="4464496" cy="1028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748" tIns="13970" rIns="78232" bIns="13970" numCol="1" spcCol="1270" anchor="t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50" kern="1200" dirty="0">
              <a:latin typeface="Adobe Garamond Pro" panose="02020502060506020403" pitchFamily="18" charset="0"/>
            </a:rPr>
            <a:t>Diabetes% = the county’s observed percentage diabetic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50" kern="1200" dirty="0">
              <a:latin typeface="Adobe Garamond Pro" panose="02020502060506020403" pitchFamily="18" charset="0"/>
            </a:rPr>
            <a:t>Hot spot (99%) = how strongly the county belongs to a statistically significant high cluster relative to neighbors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50" kern="1200" dirty="0">
              <a:latin typeface="Adobe Garamond Pro" panose="02020502060506020403" pitchFamily="18" charset="0"/>
            </a:rPr>
            <a:t>So, a county with a higher raw diabetes % can still be Not significant, while another county with a lower % can be Hot spot (99%) if it sits inside a stronger regional cluster.</a:t>
          </a:r>
        </a:p>
      </dsp:txBody>
      <dsp:txXfrm>
        <a:off x="0" y="4656593"/>
        <a:ext cx="4464496" cy="1028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9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1073442" y="3717032"/>
            <a:ext cx="10045116" cy="648072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4400" b="1" dirty="0">
                <a:latin typeface="Adobe Garamond Pro Bold" panose="02020702060506020403" pitchFamily="18" charset="0"/>
                <a:cs typeface="Arial"/>
                <a:sym typeface="Arial"/>
              </a:rPr>
              <a:t>March 2026 A1c Screening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88DBAEC-2294-6B39-92E6-5EB10127C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0635310"/>
              </p:ext>
            </p:extLst>
          </p:nvPr>
        </p:nvGraphicFramePr>
        <p:xfrm>
          <a:off x="1055440" y="2337670"/>
          <a:ext cx="10241280" cy="1883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D0DD70-C4AB-A2F2-7073-2C26EDC054FB}"/>
              </a:ext>
            </a:extLst>
          </p:cNvPr>
          <p:cNvSpPr txBox="1">
            <a:spLocks/>
          </p:cNvSpPr>
          <p:nvPr/>
        </p:nvSpPr>
        <p:spPr>
          <a:xfrm>
            <a:off x="983432" y="1628800"/>
            <a:ext cx="11338560" cy="457200"/>
          </a:xfr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Aim and Hypothesis of the Analysis</a:t>
            </a:r>
          </a:p>
        </p:txBody>
      </p:sp>
    </p:spTree>
    <p:extLst>
      <p:ext uri="{BB962C8B-B14F-4D97-AF65-F5344CB8AC3E}">
        <p14:creationId xmlns:p14="http://schemas.microsoft.com/office/powerpoint/2010/main" val="84308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179452" y="277171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Donor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1199456" y="640080"/>
            <a:ext cx="9102784" cy="32004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1600" dirty="0">
                <a:solidFill>
                  <a:srgbClr val="5A5A5A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Baseline descriptive profile of the March 2026 analytic donor cohort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CCDD347-054D-93CD-9024-0BBDABBF662B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574142281"/>
              </p:ext>
            </p:extLst>
          </p:nvPr>
        </p:nvGraphicFramePr>
        <p:xfrm>
          <a:off x="4295800" y="1115642"/>
          <a:ext cx="6768752" cy="3363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F15199F-6B76-6DD4-9DF8-D08E50ADF5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464" y="961214"/>
            <a:ext cx="2779694" cy="5772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1424" y="985776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en-US"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Donor </a:t>
            </a: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Medical History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911424" y="1340768"/>
            <a:ext cx="11155680" cy="32004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1600" dirty="0">
                <a:solidFill>
                  <a:srgbClr val="5A5A5A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Selected donor medical history variables carried forward for HbA1c comparisons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329379"/>
              </p:ext>
            </p:extLst>
          </p:nvPr>
        </p:nvGraphicFramePr>
        <p:xfrm>
          <a:off x="1055440" y="1772816"/>
          <a:ext cx="4320480" cy="2926080"/>
        </p:xfrm>
        <a:graphic>
          <a:graphicData uri="http://schemas.openxmlformats.org/drawingml/2006/table">
            <a:tbl>
              <a:tblPr/>
              <a:tblGrid>
                <a:gridCol w="2969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227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Characteristic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6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Summary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14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Medical History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endParaRPr sz="1400" b="1" i="0" u="none" strike="noStrike" cap="none">
                        <a:solidFill>
                          <a:srgbClr val="000000">
                            <a:alpha val="100000"/>
                          </a:srgbClr>
                        </a:solidFill>
                        <a:latin typeface="Adobe Garamond Pro" panose="02020502060506020403" pitchFamily="18" charset="0"/>
                        <a:cs typeface="Arial"/>
                        <a:sym typeface="Arial"/>
                      </a:endParaRP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38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cancer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33,093 (8.2%)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38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h/o hypertension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1,086 (0.3%)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38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heart/lung condition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24,924 (6.2%)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38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coagulopathy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1,577 (0.4%)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38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on teratogens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65 (&lt;0.1%)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38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on anticoagulants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9 (&lt;0.1%)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38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on deferral medications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1,896 (0.5%)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389"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h/o splenectomy/thrombocytopenia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sz="14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dobe Garamond Pro" panose="02020502060506020403" pitchFamily="18" charset="0"/>
                          <a:cs typeface="Arial"/>
                          <a:sym typeface="Arial"/>
                        </a:rPr>
                        <a:t>97 (&lt;0.1%)</a:t>
                      </a:r>
                    </a:p>
                  </a:txBody>
                  <a:tcPr marL="0" marR="0" marT="38100" marB="381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669480-2D96-AB55-5975-B1939EACC492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037278594"/>
              </p:ext>
            </p:extLst>
          </p:nvPr>
        </p:nvGraphicFramePr>
        <p:xfrm>
          <a:off x="5447928" y="1749688"/>
          <a:ext cx="6264696" cy="1679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3392" y="749654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Donor Counts by Gender and Race/Ethnicity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00B712-B591-9246-28DD-3DCBE2A82F3B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573746234"/>
              </p:ext>
            </p:extLst>
          </p:nvPr>
        </p:nvGraphicFramePr>
        <p:xfrm>
          <a:off x="7176120" y="1401451"/>
          <a:ext cx="4608512" cy="3035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D3193024-6867-0AD2-849E-EE840FBDB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401451"/>
            <a:ext cx="6591073" cy="4707909"/>
          </a:xfrm>
          <a:prstGeom prst="rect">
            <a:avLst/>
          </a:prstGeom>
          <a:noFill/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3392" y="748651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Glycemic Status by Age Group and Gender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0DFCD2-E271-263D-1B7D-CE5CF76255E4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22075620"/>
              </p:ext>
            </p:extLst>
          </p:nvPr>
        </p:nvGraphicFramePr>
        <p:xfrm>
          <a:off x="7008440" y="1864818"/>
          <a:ext cx="4824536" cy="3419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BBD25772-E2C8-36DE-4828-2FACF8BE7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268760"/>
            <a:ext cx="6456784" cy="4611989"/>
          </a:xfrm>
          <a:prstGeom prst="rect">
            <a:avLst/>
          </a:prstGeom>
          <a:noFill/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51384" y="332656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Exact Counts and Percentages for Glycemic Status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36E69EC-7DDF-005C-A285-8B4B035A7DBA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63172364"/>
              </p:ext>
            </p:extLst>
          </p:nvPr>
        </p:nvGraphicFramePr>
        <p:xfrm>
          <a:off x="4367808" y="2793504"/>
          <a:ext cx="7631494" cy="1270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11141F7-86E9-EB5A-8ACC-A8F36DE121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4" y="699062"/>
            <a:ext cx="3736471" cy="6158938"/>
          </a:xfrm>
          <a:prstGeom prst="rect">
            <a:avLst/>
          </a:prstGeom>
          <a:noFill/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18080" y="476672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HbA1c Distribution by Age Group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7093A28-6B5E-46A0-94B7-A87162AB071C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416004114"/>
              </p:ext>
            </p:extLst>
          </p:nvPr>
        </p:nvGraphicFramePr>
        <p:xfrm>
          <a:off x="7722515" y="2134720"/>
          <a:ext cx="4104456" cy="2588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5EF33507-8E8E-1481-6404-9AD950E6C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58" y="1128473"/>
            <a:ext cx="6816824" cy="4869160"/>
          </a:xfrm>
          <a:prstGeom prst="rect">
            <a:avLst/>
          </a:prstGeom>
          <a:noFill/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889760" y="182880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HbA1c Distribution by Race/Ethnicity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77E4013-6C3F-C645-303E-FF19D1D269F9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088406411"/>
              </p:ext>
            </p:extLst>
          </p:nvPr>
        </p:nvGraphicFramePr>
        <p:xfrm>
          <a:off x="7968208" y="1916832"/>
          <a:ext cx="4104456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15B35915-BBC1-571C-4A65-AEDEA72D2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1051560"/>
            <a:ext cx="7032848" cy="5023463"/>
          </a:xfrm>
          <a:prstGeom prst="rect">
            <a:avLst/>
          </a:prstGeom>
          <a:noFill/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3392" y="608918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HbA1c Distribution by Any Medical History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7E6D2F-4B22-DD38-D68D-6BE96A48010F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337007684"/>
              </p:ext>
            </p:extLst>
          </p:nvPr>
        </p:nvGraphicFramePr>
        <p:xfrm>
          <a:off x="7968208" y="1745940"/>
          <a:ext cx="3840480" cy="3366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AEA8A6A1-5015-EF20-1A57-D234273D3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196752"/>
            <a:ext cx="6855161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26720" y="392088"/>
            <a:ext cx="11338560" cy="45720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sz="2400" b="1" dirty="0">
                <a:solidFill>
                  <a:srgbClr val="1F1F1F">
                    <a:alpha val="100000"/>
                  </a:srgbClr>
                </a:solidFill>
                <a:latin typeface="Adobe Garamond Pro" panose="02020502060506020403" pitchFamily="18" charset="0"/>
                <a:cs typeface="Arial"/>
                <a:sym typeface="Arial"/>
              </a:rPr>
              <a:t>County-Level Hotspot Analysis of Diabetes Prevalence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499B94E-03DD-3484-5721-AB3259DFF651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862975241"/>
              </p:ext>
            </p:extLst>
          </p:nvPr>
        </p:nvGraphicFramePr>
        <p:xfrm>
          <a:off x="7608168" y="764704"/>
          <a:ext cx="4464496" cy="5688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F30E3590-AA88-9EAC-EA9E-C4273519D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39" y="1153801"/>
            <a:ext cx="7460029" cy="5328592"/>
          </a:xfrm>
          <a:prstGeom prst="rect">
            <a:avLst/>
          </a:prstGeom>
          <a:noFill/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998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Adobe Garamond Pro</vt:lpstr>
      <vt:lpstr>Adobe Garamond Pro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Umesh Singh</cp:lastModifiedBy>
  <cp:revision>6</cp:revision>
  <dcterms:created xsi:type="dcterms:W3CDTF">2017-02-13T16:18:36Z</dcterms:created>
  <dcterms:modified xsi:type="dcterms:W3CDTF">2026-04-09T17:25:35Z</dcterms:modified>
  <cp:category/>
</cp:coreProperties>
</file>